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2D0B5-D575-4D8B-BAF8-85EA3FB2B4A6}" v="20" dt="2026-04-01T09:49:44.203"/>
    <p1510:client id="{483FFC1C-2E0C-4F71-A9C8-7EDA40080721}" v="16" dt="2026-04-01T11:00:15.062"/>
    <p1510:client id="{9E08C5D1-6774-B045-8F35-586A06EE7AA9}" v="11" dt="2026-04-01T10:06:32.734"/>
    <p1510:client id="{AE289206-FD0B-9F4A-AAC9-3C328052D47A}" v="4" dt="2026-04-02T06:42:33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dik Desai" userId="d4ea80e6-a3f5-4f7b-ab63-2421f8f30b7e" providerId="ADAL" clId="{812E4395-BDFA-450B-8CB8-ED284A567C1C}"/>
    <pc:docChg chg="modSld">
      <pc:chgData name="Hardik Desai" userId="d4ea80e6-a3f5-4f7b-ab63-2421f8f30b7e" providerId="ADAL" clId="{812E4395-BDFA-450B-8CB8-ED284A567C1C}" dt="2026-04-01T11:00:15.062" v="15" actId="20577"/>
      <pc:docMkLst>
        <pc:docMk/>
      </pc:docMkLst>
      <pc:sldChg chg="modSp mod">
        <pc:chgData name="Hardik Desai" userId="d4ea80e6-a3f5-4f7b-ab63-2421f8f30b7e" providerId="ADAL" clId="{812E4395-BDFA-450B-8CB8-ED284A567C1C}" dt="2026-04-01T11:00:15.062" v="15" actId="20577"/>
        <pc:sldMkLst>
          <pc:docMk/>
          <pc:sldMk cId="0" sldId="265"/>
        </pc:sldMkLst>
        <pc:spChg chg="mod">
          <ac:chgData name="Hardik Desai" userId="d4ea80e6-a3f5-4f7b-ab63-2421f8f30b7e" providerId="ADAL" clId="{812E4395-BDFA-450B-8CB8-ED284A567C1C}" dt="2026-04-01T11:00:15.062" v="15" actId="20577"/>
          <ac:spMkLst>
            <pc:docMk/>
            <pc:sldMk cId="0" sldId="265"/>
            <ac:spMk id="74" creationId="{00000000-0000-0000-0000-000000000000}"/>
          </ac:spMkLst>
        </pc:spChg>
      </pc:sldChg>
    </pc:docChg>
  </pc:docChgLst>
  <pc:docChgLst>
    <pc:chgData name="Amit Gandhi" userId="ecee2319-5b4b-4ab9-8ecf-c5759a5a09bc" providerId="ADAL" clId="{FDE48019-7CA2-565E-AFE5-80DAC9E01FA0}"/>
    <pc:docChg chg="modSld">
      <pc:chgData name="Amit Gandhi" userId="ecee2319-5b4b-4ab9-8ecf-c5759a5a09bc" providerId="ADAL" clId="{FDE48019-7CA2-565E-AFE5-80DAC9E01FA0}" dt="2026-04-02T06:42:33.612" v="3" actId="14100"/>
      <pc:docMkLst>
        <pc:docMk/>
      </pc:docMkLst>
      <pc:sldChg chg="modSp mod">
        <pc:chgData name="Amit Gandhi" userId="ecee2319-5b4b-4ab9-8ecf-c5759a5a09bc" providerId="ADAL" clId="{FDE48019-7CA2-565E-AFE5-80DAC9E01FA0}" dt="2026-04-02T06:42:33.612" v="3" actId="14100"/>
        <pc:sldMkLst>
          <pc:docMk/>
          <pc:sldMk cId="0" sldId="262"/>
        </pc:sldMkLst>
        <pc:spChg chg="mod">
          <ac:chgData name="Amit Gandhi" userId="ecee2319-5b4b-4ab9-8ecf-c5759a5a09bc" providerId="ADAL" clId="{FDE48019-7CA2-565E-AFE5-80DAC9E01FA0}" dt="2026-04-02T06:42:30.021" v="2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Amit Gandhi" userId="ecee2319-5b4b-4ab9-8ecf-c5759a5a09bc" providerId="ADAL" clId="{FDE48019-7CA2-565E-AFE5-80DAC9E01FA0}" dt="2026-04-02T06:42:33.612" v="3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mit Gandhi" userId="ecee2319-5b4b-4ab9-8ecf-c5759a5a09bc" providerId="ADAL" clId="{FDE48019-7CA2-565E-AFE5-80DAC9E01FA0}" dt="2026-04-02T06:42:13.508" v="0" actId="1410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mit Gandhi" userId="ecee2319-5b4b-4ab9-8ecf-c5759a5a09bc" providerId="ADAL" clId="{FDE48019-7CA2-565E-AFE5-80DAC9E01FA0}" dt="2026-04-02T06:42:20.729" v="1" actId="14100"/>
          <ac:spMkLst>
            <pc:docMk/>
            <pc:sldMk cId="0" sldId="262"/>
            <ac:spMk id="39" creationId="{00000000-0000-0000-0000-000000000000}"/>
          </ac:spMkLst>
        </pc:spChg>
      </pc:sldChg>
    </pc:docChg>
  </pc:docChgLst>
  <pc:docChgLst>
    <pc:chgData name="Prosenjit Das" userId="S::pdas@parkar.in::a0038bb6-d4bb-49b0-86f8-4713f0b338eb" providerId="AD" clId="Web-{2A52D0B5-D575-4D8B-BAF8-85EA3FB2B4A6}"/>
    <pc:docChg chg="modSld">
      <pc:chgData name="Prosenjit Das" userId="S::pdas@parkar.in::a0038bb6-d4bb-49b0-86f8-4713f0b338eb" providerId="AD" clId="Web-{2A52D0B5-D575-4D8B-BAF8-85EA3FB2B4A6}" dt="2026-04-01T09:49:44.203" v="18" actId="20577"/>
      <pc:docMkLst>
        <pc:docMk/>
      </pc:docMkLst>
      <pc:sldChg chg="modSp">
        <pc:chgData name="Prosenjit Das" userId="S::pdas@parkar.in::a0038bb6-d4bb-49b0-86f8-4713f0b338eb" providerId="AD" clId="Web-{2A52D0B5-D575-4D8B-BAF8-85EA3FB2B4A6}" dt="2026-04-01T09:49:44.203" v="18" actId="20577"/>
        <pc:sldMkLst>
          <pc:docMk/>
          <pc:sldMk cId="0" sldId="257"/>
        </pc:sldMkLst>
        <pc:spChg chg="mod">
          <ac:chgData name="Prosenjit Das" userId="S::pdas@parkar.in::a0038bb6-d4bb-49b0-86f8-4713f0b338eb" providerId="AD" clId="Web-{2A52D0B5-D575-4D8B-BAF8-85EA3FB2B4A6}" dt="2026-04-01T09:49:44.203" v="18" actId="20577"/>
          <ac:spMkLst>
            <pc:docMk/>
            <pc:sldMk cId="0" sldId="257"/>
            <ac:spMk id="9" creationId="{00000000-0000-0000-0000-000000000000}"/>
          </ac:spMkLst>
        </pc:spChg>
      </pc:sldChg>
    </pc:docChg>
  </pc:docChgLst>
  <pc:docChgLst>
    <pc:chgData name="Prosenjit Das" userId="a0038bb6-d4bb-49b0-86f8-4713f0b338eb" providerId="ADAL" clId="{D8B652B9-B2EB-5AF0-9CBC-3BF8F4B75CF1}"/>
    <pc:docChg chg="undo custSel mod modSld">
      <pc:chgData name="Prosenjit Das" userId="a0038bb6-d4bb-49b0-86f8-4713f0b338eb" providerId="ADAL" clId="{D8B652B9-B2EB-5AF0-9CBC-3BF8F4B75CF1}" dt="2026-04-01T10:06:32.736" v="17" actId="14100"/>
      <pc:docMkLst>
        <pc:docMk/>
      </pc:docMkLst>
      <pc:sldChg chg="modSp mod">
        <pc:chgData name="Prosenjit Das" userId="a0038bb6-d4bb-49b0-86f8-4713f0b338eb" providerId="ADAL" clId="{D8B652B9-B2EB-5AF0-9CBC-3BF8F4B75CF1}" dt="2026-04-01T09:50:40.432" v="13" actId="20577"/>
        <pc:sldMkLst>
          <pc:docMk/>
          <pc:sldMk cId="0" sldId="257"/>
        </pc:sldMkLst>
        <pc:spChg chg="mod">
          <ac:chgData name="Prosenjit Das" userId="a0038bb6-d4bb-49b0-86f8-4713f0b338eb" providerId="ADAL" clId="{D8B652B9-B2EB-5AF0-9CBC-3BF8F4B75CF1}" dt="2026-04-01T09:50:40.432" v="13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Prosenjit Das" userId="a0038bb6-d4bb-49b0-86f8-4713f0b338eb" providerId="ADAL" clId="{D8B652B9-B2EB-5AF0-9CBC-3BF8F4B75CF1}" dt="2026-04-01T10:06:32.736" v="17" actId="14100"/>
        <pc:sldMkLst>
          <pc:docMk/>
          <pc:sldMk cId="0" sldId="261"/>
        </pc:sldMkLst>
        <pc:spChg chg="mod">
          <ac:chgData name="Prosenjit Das" userId="a0038bb6-d4bb-49b0-86f8-4713f0b338eb" providerId="ADAL" clId="{D8B652B9-B2EB-5AF0-9CBC-3BF8F4B75CF1}" dt="2026-04-01T10:04:59.950" v="14" actId="40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rosenjit Das" userId="a0038bb6-d4bb-49b0-86f8-4713f0b338eb" providerId="ADAL" clId="{D8B652B9-B2EB-5AF0-9CBC-3BF8F4B75CF1}" dt="2026-04-01T10:05:42.125" v="16" actId="2057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rosenjit Das" userId="a0038bb6-d4bb-49b0-86f8-4713f0b338eb" providerId="ADAL" clId="{D8B652B9-B2EB-5AF0-9CBC-3BF8F4B75CF1}" dt="2026-04-01T10:06:32.736" v="17" actId="14100"/>
          <ac:spMkLst>
            <pc:docMk/>
            <pc:sldMk cId="0" sldId="261"/>
            <ac:spMk id="4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2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72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37960" y="0"/>
            <a:ext cx="54864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12280" y="320040"/>
            <a:ext cx="164592" cy="164592"/>
          </a:xfrm>
          <a:prstGeom prst="ellipse">
            <a:avLst/>
          </a:prstGeom>
          <a:solidFill>
            <a:srgbClr val="00C2CB">
              <a:alpha val="4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0" y="320040"/>
            <a:ext cx="164592" cy="164592"/>
          </a:xfrm>
          <a:prstGeom prst="ellipse">
            <a:avLst/>
          </a:prstGeom>
          <a:solidFill>
            <a:srgbClr val="00C2CB">
              <a:alpha val="4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12280" y="822960"/>
            <a:ext cx="164592" cy="164592"/>
          </a:xfrm>
          <a:prstGeom prst="ellipse">
            <a:avLst/>
          </a:prstGeom>
          <a:solidFill>
            <a:srgbClr val="00C2CB">
              <a:alpha val="4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0" y="822960"/>
            <a:ext cx="164592" cy="164592"/>
          </a:xfrm>
          <a:prstGeom prst="ellipse">
            <a:avLst/>
          </a:prstGeom>
          <a:solidFill>
            <a:srgbClr val="00C2CB">
              <a:alpha val="4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709757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AIONIQ_</a:t>
            </a:r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</a:t>
            </a:r>
            <a:endParaRPr lang="en-US" sz="340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340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Agentic AI</a:t>
            </a:r>
            <a:endParaRPr lang="en-US" sz="340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1554480" cy="3474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IDENTIFY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2194560" y="3639312"/>
            <a:ext cx="155448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ASSESS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3886200" y="3639312"/>
            <a:ext cx="15544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86200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BUILD &amp; GOVERN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Speed, Security &amp; Scale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62940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>
                <a:solidFill>
                  <a:srgbClr val="8A9BB0"/>
                </a:solidFill>
              </a:rPr>
              <a:t>CONFIDENTIAL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6629400" y="228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00C2CB"/>
                </a:solidFill>
              </a:rPr>
              <a:t>OVERVIEW  ·  2026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AI Problem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are stuck between experimentation and production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325880"/>
            <a:ext cx="265176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481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Prioritisation Gap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512064" y="20299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>
                <a:solidFill>
                  <a:srgbClr val="2D3E50"/>
                </a:solidFill>
                <a:latin typeface="Calibri"/>
                <a:ea typeface="Calibri"/>
                <a:cs typeface="Calibri"/>
              </a:rPr>
              <a:t>No systematic way to evaluate automation opportunities. Backlogs driven by whoever shouted loudest —lack of an appropriate ROI framework, lack of sequencing logic. Teams are building the wrong things first.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13258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82112" y="1325880"/>
            <a:ext cx="2651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46704" y="1481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Readiness Gap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3346704" y="20299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isn't clean. Systems don't talk. Governance doesn't exist yet. These gaps surface mid-build — six months and significant goodwill lost before a single agent ships.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016752" y="13258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16752" y="1325880"/>
            <a:ext cx="26517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481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Gap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6181344" y="20299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agents are easy. Production agents with audit trails, access controls, exception handling, and human oversight take months to harden if you're starting from scratch.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4988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ambition or budget. It's the absence of a repeatable operating model.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Diagnostic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talk platform — where do you actually stand?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261872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740664" y="1298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740664" y="15361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completeness, accessibility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611880" y="1380744"/>
            <a:ext cx="841248" cy="2743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66744" y="138074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320040" y="186537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865376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1865376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2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740664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Business-Critical Data Access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740664" y="21396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systems connected and queryable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611880" y="1984248"/>
            <a:ext cx="841248" cy="2743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66744" y="198424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2468880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3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740664" y="25054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 Pipelines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740664" y="2743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transformation, orchestration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3611880" y="2587752"/>
            <a:ext cx="841248" cy="2743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66744" y="25877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320040" y="307238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072384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072384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4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740664" y="3108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Reporting &amp; Insights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740664" y="3346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 agents can work alongside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3611880" y="3191256"/>
            <a:ext cx="841248" cy="2743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66744" y="319125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320040" y="367588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3675888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9768" y="3675888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5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740664" y="3712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AI/ML Use Cases</a:t>
            </a:r>
            <a:endParaRPr lang="en-US" sz="1150"/>
          </a:p>
        </p:txBody>
      </p:sp>
      <p:sp>
        <p:nvSpPr>
          <p:cNvPr id="38" name="Text 36"/>
          <p:cNvSpPr/>
          <p:nvPr/>
        </p:nvSpPr>
        <p:spPr>
          <a:xfrm>
            <a:off x="740664" y="39502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AI motion to build on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3611880" y="3794760"/>
            <a:ext cx="841248" cy="274320"/>
          </a:xfrm>
          <a:prstGeom prst="rect">
            <a:avLst/>
          </a:prstGeom>
          <a:solidFill>
            <a:srgbClr val="FEF3E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66744" y="379476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Emerging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736592" y="126187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36592" y="1261872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1261872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6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5157216" y="1298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Platform Strategy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5157216" y="15361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AI stack decided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8028432" y="1380744"/>
            <a:ext cx="841248" cy="2743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083296" y="138074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736592" y="186537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36592" y="1865376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46320" y="1865376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7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5157216" y="19019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Practices</a:t>
            </a:r>
            <a:endParaRPr lang="en-US" sz="1150"/>
          </a:p>
        </p:txBody>
      </p:sp>
      <p:sp>
        <p:nvSpPr>
          <p:cNvPr id="52" name="Text 50"/>
          <p:cNvSpPr/>
          <p:nvPr/>
        </p:nvSpPr>
        <p:spPr>
          <a:xfrm>
            <a:off x="5157216" y="21396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quality, ownership defined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8028432" y="1984248"/>
            <a:ext cx="841248" cy="274320"/>
          </a:xfrm>
          <a:prstGeom prst="rect">
            <a:avLst/>
          </a:prstGeom>
          <a:solidFill>
            <a:srgbClr val="FEF3E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083296" y="198424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Evolving</a:t>
            </a:r>
            <a:endParaRPr lang="en-US" sz="850"/>
          </a:p>
        </p:txBody>
      </p:sp>
      <p:sp>
        <p:nvSpPr>
          <p:cNvPr id="55" name="Shape 53"/>
          <p:cNvSpPr/>
          <p:nvPr/>
        </p:nvSpPr>
        <p:spPr>
          <a:xfrm>
            <a:off x="4736592" y="246888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736592" y="2468880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46320" y="2468880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8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5157216" y="25054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Connectivity &amp; Integration</a:t>
            </a:r>
            <a:endParaRPr lang="en-US" sz="1150"/>
          </a:p>
        </p:txBody>
      </p:sp>
      <p:sp>
        <p:nvSpPr>
          <p:cNvPr id="59" name="Text 57"/>
          <p:cNvSpPr/>
          <p:nvPr/>
        </p:nvSpPr>
        <p:spPr>
          <a:xfrm>
            <a:off x="5157216" y="27432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 communicate reliably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8028432" y="2587752"/>
            <a:ext cx="841248" cy="274320"/>
          </a:xfrm>
          <a:prstGeom prst="rect">
            <a:avLst/>
          </a:prstGeom>
          <a:solidFill>
            <a:srgbClr val="FEF3E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083296" y="25877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 Evolving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4736592" y="307238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36592" y="3072384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46320" y="3072384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9</a:t>
            </a:r>
            <a:endParaRPr lang="en-US" sz="1100"/>
          </a:p>
        </p:txBody>
      </p:sp>
      <p:sp>
        <p:nvSpPr>
          <p:cNvPr id="65" name="Text 63"/>
          <p:cNvSpPr/>
          <p:nvPr/>
        </p:nvSpPr>
        <p:spPr>
          <a:xfrm>
            <a:off x="5157216" y="3108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Operating Model</a:t>
            </a:r>
            <a:endParaRPr lang="en-US" sz="1150"/>
          </a:p>
        </p:txBody>
      </p:sp>
      <p:sp>
        <p:nvSpPr>
          <p:cNvPr id="66" name="Text 64"/>
          <p:cNvSpPr/>
          <p:nvPr/>
        </p:nvSpPr>
        <p:spPr>
          <a:xfrm>
            <a:off x="5157216" y="33467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business alignment on AI</a:t>
            </a:r>
            <a:endParaRPr lang="en-US" sz="950"/>
          </a:p>
        </p:txBody>
      </p:sp>
      <p:sp>
        <p:nvSpPr>
          <p:cNvPr id="67" name="Shape 65"/>
          <p:cNvSpPr/>
          <p:nvPr/>
        </p:nvSpPr>
        <p:spPr>
          <a:xfrm>
            <a:off x="7571232" y="3191256"/>
            <a:ext cx="1298448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626096" y="31912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Needs Strengthening</a:t>
            </a:r>
            <a:endParaRPr lang="en-US" sz="850"/>
          </a:p>
        </p:txBody>
      </p:sp>
      <p:sp>
        <p:nvSpPr>
          <p:cNvPr id="69" name="Shape 67"/>
          <p:cNvSpPr/>
          <p:nvPr/>
        </p:nvSpPr>
        <p:spPr>
          <a:xfrm>
            <a:off x="4736592" y="367588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736592" y="3675888"/>
            <a:ext cx="54864" cy="5303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46320" y="3675888"/>
            <a:ext cx="292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C2CB"/>
                </a:solidFill>
              </a:rPr>
              <a:t>10</a:t>
            </a:r>
            <a:endParaRPr lang="en-US" sz="1100"/>
          </a:p>
        </p:txBody>
      </p:sp>
      <p:sp>
        <p:nvSpPr>
          <p:cNvPr id="72" name="Text 70"/>
          <p:cNvSpPr/>
          <p:nvPr/>
        </p:nvSpPr>
        <p:spPr>
          <a:xfrm>
            <a:off x="5157216" y="37124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Controls</a:t>
            </a:r>
            <a:endParaRPr lang="en-US" sz="1150"/>
          </a:p>
        </p:txBody>
      </p:sp>
      <p:sp>
        <p:nvSpPr>
          <p:cNvPr id="73" name="Text 71"/>
          <p:cNvSpPr/>
          <p:nvPr/>
        </p:nvSpPr>
        <p:spPr>
          <a:xfrm>
            <a:off x="5157216" y="39502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compliance, human oversight</a:t>
            </a:r>
            <a:endParaRPr lang="en-US" sz="950"/>
          </a:p>
        </p:txBody>
      </p:sp>
      <p:sp>
        <p:nvSpPr>
          <p:cNvPr id="74" name="Shape 72"/>
          <p:cNvSpPr/>
          <p:nvPr/>
        </p:nvSpPr>
        <p:spPr>
          <a:xfrm>
            <a:off x="7571232" y="3794760"/>
            <a:ext cx="1298448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626096" y="379476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Needs Strengthening</a:t>
            </a:r>
            <a:endParaRPr lang="en-US" sz="850"/>
          </a:p>
        </p:txBody>
      </p:sp>
      <p:sp>
        <p:nvSpPr>
          <p:cNvPr id="76" name="Shape 74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05840" y="468172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225296" y="4645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/>
          </a:p>
        </p:txBody>
      </p:sp>
      <p:sp>
        <p:nvSpPr>
          <p:cNvPr id="79" name="Shape 77"/>
          <p:cNvSpPr/>
          <p:nvPr/>
        </p:nvSpPr>
        <p:spPr>
          <a:xfrm>
            <a:off x="3200400" y="468172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419856" y="4645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/>
          </a:p>
        </p:txBody>
      </p:sp>
      <p:sp>
        <p:nvSpPr>
          <p:cNvPr id="81" name="Shape 79"/>
          <p:cNvSpPr/>
          <p:nvPr/>
        </p:nvSpPr>
        <p:spPr>
          <a:xfrm>
            <a:off x="5303520" y="4681728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522976" y="4645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Strengthening</a:t>
            </a:r>
            <a:endParaRPr lang="en-US" sz="1000"/>
          </a:p>
        </p:txBody>
      </p:sp>
      <p:sp>
        <p:nvSpPr>
          <p:cNvPr id="83" name="Text 81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Strong = Ready to Build  ·  5–7 Mixed = Foundation Required  ·  &lt;5 = Transformation Needed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043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Framework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Phases. One Platform. One Operating Model.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547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243584"/>
            <a:ext cx="457200" cy="4572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969264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969264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Identification &amp; Prioritisation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scoring engine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effort modelling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templates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57200" y="2944368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" y="2889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sizing framework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1/2/3 backlog output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384048" y="3621024"/>
            <a:ext cx="2523744" cy="27432"/>
          </a:xfrm>
          <a:prstGeom prst="rect">
            <a:avLst/>
          </a:prstGeom>
          <a:solidFill>
            <a:srgbClr val="00C2CB">
              <a:alpha val="4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6758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EXAMPLES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384048" y="38770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 Approval Agent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Demand Forecast Agent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384048" y="43525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HR Service Bot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3182112" y="1115568"/>
            <a:ext cx="2743200" cy="3547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82112" y="1115568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46704" y="1243584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46704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02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3877056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3877056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Platform &amp; Controls Readiness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364992" y="190195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11296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readiness diagnostic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3364992" y="224942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11296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profiling</a:t>
            </a:r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3364992" y="259689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11296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mapping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3364992" y="294436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11296" y="2889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 scorecard</a:t>
            </a:r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3364992" y="32918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11296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gap analysis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3291840" y="3621024"/>
            <a:ext cx="2523744" cy="27432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0" y="36758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EXAMPLES</a:t>
            </a:r>
            <a:endParaRPr lang="en-US" sz="750"/>
          </a:p>
        </p:txBody>
      </p:sp>
      <p:sp>
        <p:nvSpPr>
          <p:cNvPr id="45" name="Text 43"/>
          <p:cNvSpPr/>
          <p:nvPr/>
        </p:nvSpPr>
        <p:spPr>
          <a:xfrm>
            <a:off x="3291840" y="38770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Readiness score in 5 days</a:t>
            </a:r>
            <a:endParaRPr lang="en-US" sz="950"/>
          </a:p>
        </p:txBody>
      </p:sp>
      <p:sp>
        <p:nvSpPr>
          <p:cNvPr id="46" name="Text 44"/>
          <p:cNvSpPr/>
          <p:nvPr/>
        </p:nvSpPr>
        <p:spPr>
          <a:xfrm>
            <a:off x="3291840" y="41148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Integration gap report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3291840" y="43525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Governance audit output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6089904" y="1115568"/>
            <a:ext cx="2743200" cy="3547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89904" y="1115568"/>
            <a:ext cx="2743200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54496" y="1243584"/>
            <a:ext cx="457200" cy="457200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54496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03</a:t>
            </a:r>
            <a:endParaRPr lang="en-US" sz="1300"/>
          </a:p>
        </p:txBody>
      </p:sp>
      <p:sp>
        <p:nvSpPr>
          <p:cNvPr id="52" name="Text 50"/>
          <p:cNvSpPr/>
          <p:nvPr/>
        </p:nvSpPr>
        <p:spPr>
          <a:xfrm>
            <a:off x="6784848" y="12435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GOVERN</a:t>
            </a:r>
            <a:endParaRPr lang="en-US" sz="1400"/>
          </a:p>
        </p:txBody>
      </p:sp>
      <p:sp>
        <p:nvSpPr>
          <p:cNvPr id="53" name="Text 51"/>
          <p:cNvSpPr/>
          <p:nvPr/>
        </p:nvSpPr>
        <p:spPr>
          <a:xfrm>
            <a:off x="6784848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 · Deploy · Govern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272784" y="1901952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19088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LangChain agent builder</a:t>
            </a:r>
            <a:endParaRPr lang="en-US" sz="1050"/>
          </a:p>
        </p:txBody>
      </p:sp>
      <p:sp>
        <p:nvSpPr>
          <p:cNvPr id="56" name="Shape 54"/>
          <p:cNvSpPr/>
          <p:nvPr/>
        </p:nvSpPr>
        <p:spPr>
          <a:xfrm>
            <a:off x="6272784" y="2249424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19088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 Enterprise MCP Gateway</a:t>
            </a:r>
            <a:endParaRPr lang="en-US" sz="1050"/>
          </a:p>
        </p:txBody>
      </p:sp>
      <p:sp>
        <p:nvSpPr>
          <p:cNvPr id="58" name="Shape 56"/>
          <p:cNvSpPr/>
          <p:nvPr/>
        </p:nvSpPr>
        <p:spPr>
          <a:xfrm>
            <a:off x="6272784" y="2596896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19088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Cedar policy engine</a:t>
            </a:r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6272784" y="2944368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19088" y="2889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engine</a:t>
            </a:r>
            <a:endParaRPr lang="en-US" sz="1050"/>
          </a:p>
        </p:txBody>
      </p:sp>
      <p:sp>
        <p:nvSpPr>
          <p:cNvPr id="62" name="Shape 60"/>
          <p:cNvSpPr/>
          <p:nvPr/>
        </p:nvSpPr>
        <p:spPr>
          <a:xfrm>
            <a:off x="6272784" y="3291840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19088" y="3236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&amp; compliance</a:t>
            </a:r>
            <a:endParaRPr lang="en-US" sz="1050"/>
          </a:p>
        </p:txBody>
      </p:sp>
      <p:sp>
        <p:nvSpPr>
          <p:cNvPr id="64" name="Shape 62"/>
          <p:cNvSpPr/>
          <p:nvPr/>
        </p:nvSpPr>
        <p:spPr>
          <a:xfrm>
            <a:off x="6199632" y="3621024"/>
            <a:ext cx="2523744" cy="27432"/>
          </a:xfrm>
          <a:prstGeom prst="rect">
            <a:avLst/>
          </a:prstGeom>
          <a:solidFill>
            <a:srgbClr val="E05C97">
              <a:alpha val="4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199632" y="36758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EXAMPLES</a:t>
            </a:r>
            <a:endParaRPr lang="en-US" sz="750"/>
          </a:p>
        </p:txBody>
      </p:sp>
      <p:sp>
        <p:nvSpPr>
          <p:cNvPr id="66" name="Text 64"/>
          <p:cNvSpPr/>
          <p:nvPr/>
        </p:nvSpPr>
        <p:spPr>
          <a:xfrm>
            <a:off x="6199632" y="38770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Supply chain agent: 6 wks</a:t>
            </a:r>
            <a:endParaRPr lang="en-US" sz="950"/>
          </a:p>
        </p:txBody>
      </p:sp>
      <p:sp>
        <p:nvSpPr>
          <p:cNvPr id="67" name="Text 65"/>
          <p:cNvSpPr/>
          <p:nvPr/>
        </p:nvSpPr>
        <p:spPr>
          <a:xfrm>
            <a:off x="6199632" y="41148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HR bot live: 8 wks</a:t>
            </a:r>
            <a:endParaRPr lang="en-US" sz="950"/>
          </a:p>
        </p:txBody>
      </p:sp>
      <p:sp>
        <p:nvSpPr>
          <p:cNvPr id="68" name="Text 66"/>
          <p:cNvSpPr/>
          <p:nvPr/>
        </p:nvSpPr>
        <p:spPr>
          <a:xfrm>
            <a:off x="6199632" y="43525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Revenue reconciliation</a:t>
            </a:r>
            <a:endParaRPr lang="en-US" sz="950"/>
          </a:p>
        </p:txBody>
      </p:sp>
      <p:sp>
        <p:nvSpPr>
          <p:cNvPr id="69" name="Shape 67"/>
          <p:cNvSpPr/>
          <p:nvPr/>
        </p:nvSpPr>
        <p:spPr>
          <a:xfrm>
            <a:off x="274320" y="4736592"/>
            <a:ext cx="8613648" cy="320040"/>
          </a:xfrm>
          <a:prstGeom prst="rect">
            <a:avLst/>
          </a:prstGeom>
          <a:solidFill>
            <a:srgbClr val="0A2A1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84048" y="474573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ACCELERATORS  —  LangChain agent templates · Data layer connectors · Natoma Enterprise MCP Gateway · Governance templates  —  compressing every phase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Identify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engine for finding and prioritising what to build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— 5 DIMENSIONS (each 1–5)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475488" y="1572768"/>
            <a:ext cx="237744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1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768096" y="15727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2176272" y="1581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 reduction, compliance, NPS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75488" y="1874520"/>
            <a:ext cx="237744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18745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2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768096" y="1874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Effort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176272" y="18836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data readiness, change mgmt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75488" y="2176272"/>
            <a:ext cx="237744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1762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3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68096" y="2176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2176272" y="2185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functions and business units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75488" y="2478024"/>
            <a:ext cx="237744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24780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4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768096" y="2478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2176272" y="2487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vs. heavy prep required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75488" y="2779776"/>
            <a:ext cx="237744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277977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5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768096" y="2779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Value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176272" y="2788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results in 8–12 weeks?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709160" y="118872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118872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1298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SIZING GUIDE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864608" y="1572768"/>
            <a:ext cx="256032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64608" y="15727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XS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175504" y="15727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wks  ·  Low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6446520" y="15819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FAQ, report summarisation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4864608" y="1874520"/>
            <a:ext cx="256032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64608" y="18745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175504" y="1874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wks  ·  Low-Med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6446520" y="188366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PO approvals, HR onboarding bot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864608" y="2176272"/>
            <a:ext cx="256032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21762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5175504" y="21762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 wks  ·  Medium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6446520" y="21854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agent, demand forecast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4864608" y="2478024"/>
            <a:ext cx="256032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64608" y="24780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L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5175504" y="24780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wks  ·  High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644652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ERP orchestration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4864608" y="2779776"/>
            <a:ext cx="256032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64608" y="27797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XL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5175504" y="27797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wks  ·  Very High</a:t>
            </a:r>
            <a:endParaRPr lang="en-US" sz="900"/>
          </a:p>
        </p:txBody>
      </p:sp>
      <p:sp>
        <p:nvSpPr>
          <p:cNvPr id="51" name="Text 49"/>
          <p:cNvSpPr/>
          <p:nvPr/>
        </p:nvSpPr>
        <p:spPr>
          <a:xfrm>
            <a:off x="6446520" y="2788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ERP transformation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320040" y="3310128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20040" y="3310128"/>
            <a:ext cx="850392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5488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0C2CB"/>
                </a:solidFill>
              </a:rPr>
              <a:t>THE OUTPUT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475488" y="3639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scored, sequenced Wave 1 / 2 / 3 use case backlog — ranked by ROI, readiness, and strategic fit. Defensible to the board. Built in days, not weeks.</a:t>
            </a:r>
            <a:endParaRPr lang="en-US" sz="1100"/>
          </a:p>
        </p:txBody>
      </p:sp>
      <p:sp>
        <p:nvSpPr>
          <p:cNvPr id="56" name="Shape 54"/>
          <p:cNvSpPr/>
          <p:nvPr/>
        </p:nvSpPr>
        <p:spPr>
          <a:xfrm>
            <a:off x="5623560" y="3429000"/>
            <a:ext cx="914400" cy="31089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623560" y="3429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97A7"/>
                </a:solidFill>
              </a:rPr>
              <a:t>Finance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6647688" y="3429000"/>
            <a:ext cx="914400" cy="31089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47688" y="3429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97A7"/>
                </a:solidFill>
              </a:rPr>
              <a:t>HR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7671816" y="3429000"/>
            <a:ext cx="914400" cy="31089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671816" y="3429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97A7"/>
                </a:solidFill>
              </a:rPr>
              <a:t>Operations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5623560" y="3813048"/>
            <a:ext cx="914400" cy="31089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623560" y="3813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97A7"/>
                </a:solidFill>
              </a:rPr>
              <a:t>Customer Exp.</a:t>
            </a:r>
            <a:endParaRPr lang="en-US" sz="850"/>
          </a:p>
        </p:txBody>
      </p:sp>
      <p:sp>
        <p:nvSpPr>
          <p:cNvPr id="64" name="Shape 62"/>
          <p:cNvSpPr/>
          <p:nvPr/>
        </p:nvSpPr>
        <p:spPr>
          <a:xfrm>
            <a:off x="6647688" y="3813048"/>
            <a:ext cx="914400" cy="31089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47688" y="3813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97A7"/>
                </a:solidFill>
              </a:rPr>
              <a:t>Supply Chain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7671816" y="3813048"/>
            <a:ext cx="914400" cy="31089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671816" y="3813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097A7"/>
                </a:solidFill>
              </a:rPr>
              <a:t>Commercial</a:t>
            </a:r>
            <a:endParaRPr lang="en-US" sz="850"/>
          </a:p>
        </p:txBody>
      </p:sp>
      <p:sp>
        <p:nvSpPr>
          <p:cNvPr id="68" name="Shape 6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SECTION 2 — THE PLATFORM  ·  PHASE 1: IDENTIFY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Assess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you're getting into before you commit to a build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432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98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Readiness Diagnostic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180136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10-dimension scorecard delivered in 3–5 days — not a 4-week engagement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" y="231343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your actual environment, not self-reported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2825496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Red / Amber / Green across data, integration, and governance posture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333756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directly into Wave 1 sprint scope definition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182112" y="1170432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82112" y="1170432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46704" y="1298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Accelerators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3364992" y="185623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11296" y="180136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pre-configured source connectors: SAP, Salesforce, Workday, Snowflake, Databricks, ServiceNow, NetSuite, HubSpot, Concur, AWS S3, Fivetran, MuleSoft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364992" y="236829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11296" y="231343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err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library: entity resolution, RAG chunking, event stream normalisation, audit trail schemas, master data harmonisation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364992" y="28803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11296" y="2825496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pipeline templates for ingestion and orchestration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3364992" y="339242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11296" y="333756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quality profiler — completeness, freshness, consistency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3364992" y="39044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11296" y="384962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setup templates: pgvector, Pinecone, Weaviate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6089904" y="1170432"/>
            <a:ext cx="2743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9904" y="1170432"/>
            <a:ext cx="2743200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54496" y="12984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Mapping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272784" y="1856232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19088" y="1801368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connectivity audit — which systems talk today vs. need middleware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272784" y="2368296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19088" y="231343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integration roadmap as sprint input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6272784" y="2880360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19088" y="2825496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 coverage mapped to Wave 1 scope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6272784" y="3392424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19088" y="333756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 for agent context requirements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0" y="4572000"/>
            <a:ext cx="91440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 phase turns a 4-week discovery into a 5-day diagnostic. The data layer accelerators turn a 3-month data prep project into a 2-week setup.</a:t>
            </a:r>
            <a:endParaRPr lang="en-US" sz="1150"/>
          </a:p>
        </p:txBody>
      </p:sp>
      <p:sp>
        <p:nvSpPr>
          <p:cNvPr id="43" name="Shape 41"/>
          <p:cNvSpPr/>
          <p:nvPr/>
        </p:nvSpPr>
        <p:spPr>
          <a:xfrm>
            <a:off x="0" y="4796026"/>
            <a:ext cx="9144000" cy="34747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SECTION 2 — THE PLATFORM  ·  PHASE 2: ASSESS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Build &amp; Govern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agent logic to production — with enterprise controls built in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2452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24528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618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Builder — LangChain / LangGraph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2763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for complex stateful agents — directed graph model, native HITL support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94767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multi-agent patterns — role-based agents collaborating on business workflows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Agents for fully-managed, straightforward agents on AWS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58775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as durable execution layer for long-running agents that span hours or days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645152" y="1170432"/>
            <a:ext cx="422452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45152" y="1170432"/>
            <a:ext cx="422452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9744" y="12618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 Enterprise MCP Gateway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828032" y="1691640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162763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1,000s of verified MCP servers — not a hand-built connector list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828032" y="2011680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194767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managed endpoint · Profiles for role-based tool access deployment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828032" y="2331720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5192" y="226771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Cedar-based policy engine · attribute-based authorization · data filters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828032" y="2651760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192" y="258775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gateway (SOC2) · VPC deployment available for regulated environments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274320" y="2880360"/>
            <a:ext cx="4224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4224528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297180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 Templates — 12 Archetypes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457200" y="3401568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33375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templates: contract analysis, demand forecast, compliance monitoring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57200" y="3721608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36576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templates: PO approval, HR deflection, report generation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57200" y="4041648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" y="397764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templates: onboarding workflow, multi-step research, exception handling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57200" y="4361688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429768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deploy — avg 2–3 days per template vs 4–6 weeks from scratch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645152" y="2880360"/>
            <a:ext cx="4224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45152" y="2880360"/>
            <a:ext cx="4224528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9744" y="297180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AIONIQ + Natoma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4828032" y="3401568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65192" y="333756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AIONIQ: HITL workflow engine, agent registry, business policy rules, audit logging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4828032" y="3721608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65192" y="365760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Natoma: Cedar policy enforcement, Shadow AI detection (225+ per org avg), SIEM/EDR/MDM integration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4828032" y="4041648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65192" y="397764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integration · full tool call audit trail · 1.8M tool calls/day at scale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828032" y="4361688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65192" y="4297680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certified · GDPR compliant · CCPA · US Data Privacy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SECTION 2 — THE PLATFORM  ·  PHASE 3: BUILD &amp; GOVERN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Pre-Built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— not just Works With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4206240" cy="17556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42062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252728"/>
            <a:ext cx="658368" cy="658368"/>
          </a:xfrm>
          <a:prstGeom prst="rect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C2CB"/>
                </a:solidFill>
              </a:rPr>
              <a:t>12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1152144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Archetypes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1152144" y="12527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Templates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(complex reasoning) · CrewAI (multi-agent) · Bedrock Agents (managed)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graph templates — configure and deploy, not build from scratch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setup: 2–3 days per template vs 4–6 weeks from zero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HITL, memory, tool use, exception handling pre-wired per archetype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700016" y="1115568"/>
            <a:ext cx="4206240" cy="17556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1115568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82896" y="1252728"/>
            <a:ext cx="658368" cy="6583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82896" y="1252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5A623"/>
                </a:solidFill>
              </a:rPr>
              <a:t>12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5596128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Connectors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5596128" y="12527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Accelerators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4901184" y="201168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1956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Salesforce · Workday · Snowflake · Databricks · ServiceNow + more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901184" y="22494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library: 8 templates for common agent data patterns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901184" y="248716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24323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pipeline templates · Automated data quality profiler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4901184" y="272491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setup (pgvector · Pinecone · Weaviate) · RAG-ready out of the box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256032" y="2990088"/>
            <a:ext cx="4206240" cy="17556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2990088"/>
            <a:ext cx="4206240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38912" y="3127248"/>
            <a:ext cx="658368" cy="658368"/>
          </a:xfrm>
          <a:prstGeom prst="rect">
            <a:avLst/>
          </a:prstGeom>
          <a:solidFill>
            <a:srgbClr val="E05C97">
              <a:alpha val="15000"/>
            </a:srgbClr>
          </a:solidFill>
          <a:ln w="12700">
            <a:solidFill>
              <a:srgbClr val="E05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8912" y="3127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05C97"/>
                </a:solidFill>
              </a:rPr>
              <a:t>1K+</a:t>
            </a:r>
            <a:endParaRPr lang="en-US" sz="2200"/>
          </a:p>
        </p:txBody>
      </p:sp>
      <p:sp>
        <p:nvSpPr>
          <p:cNvPr id="38" name="Text 36"/>
          <p:cNvSpPr/>
          <p:nvPr/>
        </p:nvSpPr>
        <p:spPr>
          <a:xfrm>
            <a:off x="1152144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1152144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 Enterprise MCP Gateway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457200" y="388620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5216" y="3831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MCP server library — not 10 connectors, thousands of enterprise systems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457200" y="412394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5216" y="4069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managed endpoint · role-based Profiles · Cedar policy engine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457200" y="4361688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5216" y="4306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 tool calls/day · 225+ Shadow AIs detected per org · SOC2 certified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457200" y="4599432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5216" y="4544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deployment available for regulated industries · GDPR · CCPA compliant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700016" y="2990088"/>
            <a:ext cx="4206240" cy="17556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00016" y="2990088"/>
            <a:ext cx="42062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82896" y="3127248"/>
            <a:ext cx="658368" cy="658368"/>
          </a:xfrm>
          <a:prstGeom prst="rect">
            <a:avLst/>
          </a:prstGeom>
          <a:solidFill>
            <a:srgbClr val="0097A7">
              <a:alpha val="15000"/>
            </a:srgbClr>
          </a:solidFill>
          <a:ln w="12700">
            <a:solidFill>
              <a:srgbClr val="0097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82896" y="3127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097A7"/>
                </a:solidFill>
              </a:rPr>
              <a:t>4</a:t>
            </a:r>
            <a:endParaRPr lang="en-US" sz="2200"/>
          </a:p>
        </p:txBody>
      </p:sp>
      <p:sp>
        <p:nvSpPr>
          <p:cNvPr id="52" name="Text 50"/>
          <p:cNvSpPr/>
          <p:nvPr/>
        </p:nvSpPr>
        <p:spPr>
          <a:xfrm>
            <a:off x="5596128" y="3374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Frameworks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5596128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Templates</a:t>
            </a:r>
            <a:endParaRPr lang="en-US" sz="1200"/>
          </a:p>
        </p:txBody>
      </p:sp>
      <p:sp>
        <p:nvSpPr>
          <p:cNvPr id="54" name="Shape 52"/>
          <p:cNvSpPr/>
          <p:nvPr/>
        </p:nvSpPr>
        <p:spPr>
          <a:xfrm>
            <a:off x="4901184" y="3886200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0" y="3831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policy templates by role type — user, agent, approver, auditor, admin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4901184" y="4123944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0" y="4069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HITL approval pattern archetypes pre-built and configurable</a:t>
            </a:r>
            <a:endParaRPr lang="en-US" sz="950"/>
          </a:p>
        </p:txBody>
      </p:sp>
      <p:sp>
        <p:nvSpPr>
          <p:cNvPr id="58" name="Shape 56"/>
          <p:cNvSpPr/>
          <p:nvPr/>
        </p:nvSpPr>
        <p:spPr>
          <a:xfrm>
            <a:off x="4901184" y="4361688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0" y="43068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schemas mapped to SOC2, GDPR, and CCPA requirements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4901184" y="4599432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0" y="4544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playbooks · agent circuit-breaker · rollback procedures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AIONIQ fits into your enterprise stack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7818120" y="1078992"/>
            <a:ext cx="1051560" cy="3886200"/>
          </a:xfrm>
          <a:prstGeom prst="rect">
            <a:avLst/>
          </a:prstGeom>
          <a:solidFill>
            <a:srgbClr val="0A2A20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36408" y="1115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7836408" y="14081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AIONIQ</a:t>
            </a:r>
            <a:endParaRPr lang="en-US" sz="700"/>
          </a:p>
        </p:txBody>
      </p:sp>
      <p:sp>
        <p:nvSpPr>
          <p:cNvPr id="9" name="Text 7"/>
          <p:cNvSpPr/>
          <p:nvPr/>
        </p:nvSpPr>
        <p:spPr>
          <a:xfrm>
            <a:off x="7836408" y="159105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7836408" y="209397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750"/>
          </a:p>
        </p:txBody>
      </p:sp>
      <p:sp>
        <p:nvSpPr>
          <p:cNvPr id="11" name="Text 9"/>
          <p:cNvSpPr/>
          <p:nvPr/>
        </p:nvSpPr>
        <p:spPr>
          <a:xfrm>
            <a:off x="7836408" y="259689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>
            <a:off x="7882128" y="3108960"/>
            <a:ext cx="896112" cy="18288"/>
          </a:xfrm>
          <a:prstGeom prst="rect">
            <a:avLst/>
          </a:prstGeom>
          <a:solidFill>
            <a:srgbClr val="00C2CB">
              <a:alpha val="50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36408" y="31455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</a:t>
            </a:r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7836408" y="332841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836408" y="383133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/>
          </a:p>
        </p:txBody>
      </p:sp>
      <p:sp>
        <p:nvSpPr>
          <p:cNvPr id="16" name="Text 14"/>
          <p:cNvSpPr/>
          <p:nvPr/>
        </p:nvSpPr>
        <p:spPr>
          <a:xfrm>
            <a:off x="7836408" y="4334256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256032" y="1078992"/>
            <a:ext cx="7479792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1078992"/>
            <a:ext cx="7479792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117043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APPLICATION &amp; EXPERIENCE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84048" y="1408176"/>
            <a:ext cx="1325880" cy="411480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14081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Interfaces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1828800" y="1408176"/>
            <a:ext cx="1325880" cy="411480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0" y="14081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273552" y="1408176"/>
            <a:ext cx="1325880" cy="411480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73552" y="14081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718304" y="1408176"/>
            <a:ext cx="1325880" cy="411480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18304" y="14081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UX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6163056" y="1408176"/>
            <a:ext cx="1325880" cy="411480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63056" y="140817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256032" y="2084832"/>
            <a:ext cx="7479792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2084832"/>
            <a:ext cx="747979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21762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NATOMA ENTERPRISE MCP GATEWAY  (SOC2 · Cedar Policy · 1,000s of MCP Servers)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384048" y="2414016"/>
            <a:ext cx="1325880" cy="41148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24140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MCP Library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1828800" y="2414016"/>
            <a:ext cx="1325880" cy="41148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0" y="24140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MCP Servers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273552" y="2414016"/>
            <a:ext cx="1325880" cy="41148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73552" y="24140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Profiles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4718304" y="2414016"/>
            <a:ext cx="1325880" cy="41148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18304" y="24140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Detection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6163056" y="2414016"/>
            <a:ext cx="1325880" cy="41148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63056" y="241401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/ On-prem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256032" y="3090672"/>
            <a:ext cx="7479792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56032" y="3090672"/>
            <a:ext cx="7479792" cy="45720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4048" y="31821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AGENT ORCHESTRATION  (LangGraph · CrewAI · Bedrock Agents · Temporal)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384048" y="3419856"/>
            <a:ext cx="1325880" cy="411480"/>
          </a:xfrm>
          <a:prstGeom prst="rect">
            <a:avLst/>
          </a:prstGeom>
          <a:solidFill>
            <a:srgbClr val="E05C97">
              <a:alpha val="12000"/>
            </a:srgbClr>
          </a:solidFill>
          <a:ln w="12700">
            <a:solidFill>
              <a:srgbClr val="E05C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" y="34198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LLMs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1828800" y="3419856"/>
            <a:ext cx="1325880" cy="411480"/>
          </a:xfrm>
          <a:prstGeom prst="rect">
            <a:avLst/>
          </a:prstGeom>
          <a:solidFill>
            <a:srgbClr val="E05C97">
              <a:alpha val="12000"/>
            </a:srgbClr>
          </a:solidFill>
          <a:ln w="12700">
            <a:solidFill>
              <a:srgbClr val="E05C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28800" y="34198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3273552" y="3419856"/>
            <a:ext cx="1325880" cy="411480"/>
          </a:xfrm>
          <a:prstGeom prst="rect">
            <a:avLst/>
          </a:prstGeom>
          <a:solidFill>
            <a:srgbClr val="E05C97">
              <a:alpha val="12000"/>
            </a:srgbClr>
          </a:solidFill>
          <a:ln w="12700">
            <a:solidFill>
              <a:srgbClr val="E05C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73552" y="34198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Multi-Agent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4718304" y="3419856"/>
            <a:ext cx="1325880" cy="411480"/>
          </a:xfrm>
          <a:prstGeom prst="rect">
            <a:avLst/>
          </a:prstGeom>
          <a:solidFill>
            <a:srgbClr val="E05C97">
              <a:alpha val="12000"/>
            </a:srgbClr>
          </a:solidFill>
          <a:ln w="12700">
            <a:solidFill>
              <a:srgbClr val="E05C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18304" y="34198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163056" y="3419856"/>
            <a:ext cx="1325880" cy="411480"/>
          </a:xfrm>
          <a:prstGeom prst="rect">
            <a:avLst/>
          </a:prstGeom>
          <a:solidFill>
            <a:srgbClr val="E05C97">
              <a:alpha val="12000"/>
            </a:srgbClr>
          </a:solidFill>
          <a:ln w="12700">
            <a:solidFill>
              <a:srgbClr val="E05C9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63056" y="34198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256032" y="4096512"/>
            <a:ext cx="7479792" cy="914400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56032" y="4096512"/>
            <a:ext cx="7479792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84048" y="418795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DATA FOUNDATION  (client AWS environment)</a:t>
            </a:r>
            <a:endParaRPr lang="en-US" sz="800"/>
          </a:p>
        </p:txBody>
      </p:sp>
      <p:sp>
        <p:nvSpPr>
          <p:cNvPr id="59" name="Shape 57"/>
          <p:cNvSpPr/>
          <p:nvPr/>
        </p:nvSpPr>
        <p:spPr>
          <a:xfrm>
            <a:off x="384048" y="4425696"/>
            <a:ext cx="1325880" cy="411480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84048" y="44256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1828800" y="4425696"/>
            <a:ext cx="1325880" cy="411480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828800" y="44256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Glue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3273552" y="4425696"/>
            <a:ext cx="1325880" cy="411480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73552" y="44256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4718304" y="4425696"/>
            <a:ext cx="1325880" cy="411480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18304" y="44256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163056" y="4425696"/>
            <a:ext cx="1325880" cy="411480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163056" y="442569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Ecosystem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1,000s of enterprise systems accessible via Natoma MCP Gateway — no connector build required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61364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133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via Natoma Gateway</a:t>
            </a:r>
            <a:endParaRPr lang="en-US" sz="750"/>
          </a:p>
        </p:txBody>
      </p:sp>
      <p:sp>
        <p:nvSpPr>
          <p:cNvPr id="9" name="Text 7"/>
          <p:cNvSpPr/>
          <p:nvPr/>
        </p:nvSpPr>
        <p:spPr>
          <a:xfrm>
            <a:off x="3749040" y="1133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749040" y="1307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/ Day</a:t>
            </a:r>
            <a:endParaRPr lang="en-US" sz="750"/>
          </a:p>
        </p:txBody>
      </p:sp>
      <p:sp>
        <p:nvSpPr>
          <p:cNvPr id="11" name="Text 9"/>
          <p:cNvSpPr/>
          <p:nvPr/>
        </p:nvSpPr>
        <p:spPr>
          <a:xfrm>
            <a:off x="5943600" y="1133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225+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943600" y="1307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AIs Detected per Org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8046720" y="1133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8046720" y="13075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· GDPR · CCPA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274320" y="1572768"/>
            <a:ext cx="861364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1572768"/>
            <a:ext cx="1417320" cy="585216"/>
          </a:xfrm>
          <a:prstGeom prst="rect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1572768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1874520" y="1664208"/>
            <a:ext cx="1024128" cy="384048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74520" y="166420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990088" y="1664208"/>
            <a:ext cx="1024128" cy="384048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90088" y="166420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105656" y="1664208"/>
            <a:ext cx="1024128" cy="384048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05656" y="166420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5221224" y="1664208"/>
            <a:ext cx="1024128" cy="384048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21224" y="166420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6336792" y="1664208"/>
            <a:ext cx="1024128" cy="384048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166420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7452360" y="1664208"/>
            <a:ext cx="1024128" cy="384048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52360" y="166420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274320" y="2231136"/>
            <a:ext cx="861364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231136"/>
            <a:ext cx="1417320" cy="585216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2231136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1874520" y="2322576"/>
            <a:ext cx="1024128" cy="384048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74520" y="23225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2990088" y="2322576"/>
            <a:ext cx="1024128" cy="384048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90088" y="23225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4105656" y="2322576"/>
            <a:ext cx="1024128" cy="384048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05656" y="23225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5221224" y="2322576"/>
            <a:ext cx="1024128" cy="384048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21224" y="23225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6336792" y="2322576"/>
            <a:ext cx="1024128" cy="384048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36792" y="23225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7452360" y="2322576"/>
            <a:ext cx="1024128" cy="384048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52360" y="232257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274320" y="2889504"/>
            <a:ext cx="861364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" y="2889504"/>
            <a:ext cx="1417320" cy="585216"/>
          </a:xfrm>
          <a:prstGeom prst="rect">
            <a:avLst/>
          </a:prstGeom>
          <a:solidFill>
            <a:srgbClr val="E05C97">
              <a:alpha val="12000"/>
            </a:srgbClr>
          </a:solidFill>
          <a:ln w="12700">
            <a:solidFill>
              <a:srgbClr val="E05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0040" y="2889504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1874520" y="2980944"/>
            <a:ext cx="1024128" cy="384048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74520" y="29809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2990088" y="2980944"/>
            <a:ext cx="1024128" cy="384048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990088" y="29809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4105656" y="2980944"/>
            <a:ext cx="1024128" cy="384048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05656" y="29809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5221224" y="2980944"/>
            <a:ext cx="1024128" cy="384048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221224" y="29809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850"/>
          </a:p>
        </p:txBody>
      </p:sp>
      <p:sp>
        <p:nvSpPr>
          <p:cNvPr id="56" name="Shape 54"/>
          <p:cNvSpPr/>
          <p:nvPr/>
        </p:nvSpPr>
        <p:spPr>
          <a:xfrm>
            <a:off x="6336792" y="2980944"/>
            <a:ext cx="1024128" cy="384048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36792" y="29809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7452360" y="2980944"/>
            <a:ext cx="1024128" cy="384048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452360" y="2980944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274320" y="3547872"/>
            <a:ext cx="861364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74320" y="3547872"/>
            <a:ext cx="1417320" cy="585216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0040" y="3547872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Stack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1874520" y="3639312"/>
            <a:ext cx="1024128" cy="384048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874520" y="3639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850"/>
          </a:p>
        </p:txBody>
      </p:sp>
      <p:sp>
        <p:nvSpPr>
          <p:cNvPr id="65" name="Shape 63"/>
          <p:cNvSpPr/>
          <p:nvPr/>
        </p:nvSpPr>
        <p:spPr>
          <a:xfrm>
            <a:off x="2990088" y="3639312"/>
            <a:ext cx="1024128" cy="384048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990088" y="3639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850"/>
          </a:p>
        </p:txBody>
      </p:sp>
      <p:sp>
        <p:nvSpPr>
          <p:cNvPr id="67" name="Shape 65"/>
          <p:cNvSpPr/>
          <p:nvPr/>
        </p:nvSpPr>
        <p:spPr>
          <a:xfrm>
            <a:off x="4105656" y="3639312"/>
            <a:ext cx="1024128" cy="384048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05656" y="3639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/ MDM</a:t>
            </a:r>
            <a:endParaRPr lang="en-US" sz="850"/>
          </a:p>
        </p:txBody>
      </p:sp>
      <p:sp>
        <p:nvSpPr>
          <p:cNvPr id="69" name="Shape 67"/>
          <p:cNvSpPr/>
          <p:nvPr/>
        </p:nvSpPr>
        <p:spPr>
          <a:xfrm>
            <a:off x="5221224" y="3639312"/>
            <a:ext cx="1024128" cy="384048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221224" y="3639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</a:t>
            </a:r>
            <a:endParaRPr lang="en-US" sz="850"/>
          </a:p>
        </p:txBody>
      </p:sp>
      <p:sp>
        <p:nvSpPr>
          <p:cNvPr id="71" name="Shape 69"/>
          <p:cNvSpPr/>
          <p:nvPr/>
        </p:nvSpPr>
        <p:spPr>
          <a:xfrm>
            <a:off x="6336792" y="3639312"/>
            <a:ext cx="1024128" cy="384048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36792" y="3639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850"/>
          </a:p>
        </p:txBody>
      </p:sp>
      <p:sp>
        <p:nvSpPr>
          <p:cNvPr id="73" name="Shape 71"/>
          <p:cNvSpPr/>
          <p:nvPr/>
        </p:nvSpPr>
        <p:spPr>
          <a:xfrm>
            <a:off x="7452360" y="3639312"/>
            <a:ext cx="1024128" cy="384048"/>
          </a:xfrm>
          <a:prstGeom prst="rect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452360" y="363931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850"/>
          </a:p>
        </p:txBody>
      </p:sp>
      <p:sp>
        <p:nvSpPr>
          <p:cNvPr id="75" name="Shape 73"/>
          <p:cNvSpPr/>
          <p:nvPr/>
        </p:nvSpPr>
        <p:spPr>
          <a:xfrm>
            <a:off x="274320" y="4206240"/>
            <a:ext cx="861364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74320" y="4206240"/>
            <a:ext cx="1417320" cy="585216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0040" y="4206240"/>
            <a:ext cx="1325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Comms</a:t>
            </a:r>
            <a:endParaRPr lang="en-US" sz="900"/>
          </a:p>
        </p:txBody>
      </p:sp>
      <p:sp>
        <p:nvSpPr>
          <p:cNvPr id="78" name="Shape 76"/>
          <p:cNvSpPr/>
          <p:nvPr/>
        </p:nvSpPr>
        <p:spPr>
          <a:xfrm>
            <a:off x="1874520" y="4297680"/>
            <a:ext cx="1024128" cy="384048"/>
          </a:xfrm>
          <a:prstGeom prst="rect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1874520" y="4297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850"/>
          </a:p>
        </p:txBody>
      </p:sp>
      <p:sp>
        <p:nvSpPr>
          <p:cNvPr id="80" name="Shape 78"/>
          <p:cNvSpPr/>
          <p:nvPr/>
        </p:nvSpPr>
        <p:spPr>
          <a:xfrm>
            <a:off x="2990088" y="4297680"/>
            <a:ext cx="1024128" cy="384048"/>
          </a:xfrm>
          <a:prstGeom prst="rect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990088" y="4297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US" sz="850"/>
          </a:p>
        </p:txBody>
      </p:sp>
      <p:sp>
        <p:nvSpPr>
          <p:cNvPr id="82" name="Shape 80"/>
          <p:cNvSpPr/>
          <p:nvPr/>
        </p:nvSpPr>
        <p:spPr>
          <a:xfrm>
            <a:off x="4105656" y="4297680"/>
            <a:ext cx="1024128" cy="384048"/>
          </a:xfrm>
          <a:prstGeom prst="rect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105656" y="4297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850"/>
          </a:p>
        </p:txBody>
      </p:sp>
      <p:sp>
        <p:nvSpPr>
          <p:cNvPr id="84" name="Shape 82"/>
          <p:cNvSpPr/>
          <p:nvPr/>
        </p:nvSpPr>
        <p:spPr>
          <a:xfrm>
            <a:off x="5221224" y="4297680"/>
            <a:ext cx="1024128" cy="384048"/>
          </a:xfrm>
          <a:prstGeom prst="rect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221224" y="4297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850"/>
          </a:p>
        </p:txBody>
      </p:sp>
      <p:sp>
        <p:nvSpPr>
          <p:cNvPr id="86" name="Shape 84"/>
          <p:cNvSpPr/>
          <p:nvPr/>
        </p:nvSpPr>
        <p:spPr>
          <a:xfrm>
            <a:off x="6336792" y="4297680"/>
            <a:ext cx="1024128" cy="384048"/>
          </a:xfrm>
          <a:prstGeom prst="rect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336792" y="4297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850"/>
          </a:p>
        </p:txBody>
      </p:sp>
      <p:sp>
        <p:nvSpPr>
          <p:cNvPr id="88" name="Shape 86"/>
          <p:cNvSpPr/>
          <p:nvPr/>
        </p:nvSpPr>
        <p:spPr>
          <a:xfrm>
            <a:off x="7452360" y="4297680"/>
            <a:ext cx="1024128" cy="384048"/>
          </a:xfrm>
          <a:prstGeom prst="rect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452360" y="4297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850"/>
          </a:p>
        </p:txBody>
      </p:sp>
      <p:sp>
        <p:nvSpPr>
          <p:cNvPr id="90" name="Shape 8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Natoma MCP Gateway · All connections governed by Cedar policy · Shadow AI detection built in · VPC deployment for regulated industries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controls built in from day one — not retrofitted after incidents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613648" cy="292608"/>
          </a:xfrm>
          <a:prstGeom prst="rect">
            <a:avLst/>
          </a:prstGeom>
          <a:solidFill>
            <a:srgbClr val="0D2040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133856"/>
            <a:ext cx="54864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338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AWS VPC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2523744" y="1133856"/>
            <a:ext cx="54864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33472" y="11338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2633472" y="12618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700016" y="1133856"/>
            <a:ext cx="54864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9744" y="11338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4809744" y="12618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 (SOC2)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6876288" y="1133856"/>
            <a:ext cx="54864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86016" y="11338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Option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6986016" y="12618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256032" y="150876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508760"/>
            <a:ext cx="420624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161848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&amp; Access — Cedar Policy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38912" y="2011680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195681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policy engine — industry-standard, auditable, attribute-based authorization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38912" y="226771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6072" y="221284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scoped identity, defined permissions, and chain of authority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38912" y="2523744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" y="246888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acts outside its boundary — policy enforced at runtime by Natoma gateway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38912" y="2779776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072" y="272491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Identity-aware: user, group, device, and AI client context all enforced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700016" y="150876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0016" y="1508760"/>
            <a:ext cx="4206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161848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Architecture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4882896" y="2011680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0056" y="195681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approval checkpoints at every consequential action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882896" y="226771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0056" y="221284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HITL patterns: notify-only, soft approval, hard approval, escalation with timeout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882896" y="2523744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0056" y="246888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is a first-class architectural component — not an afterthought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882896" y="277977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0056" y="272491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state persisted — no lost context between human intervention steps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256032" y="32004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56032" y="3200400"/>
            <a:ext cx="4206240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0624" y="33101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438912" y="3703320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6072" y="364845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every agent decision, tool call, data access, human interaction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438912" y="395935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6072" y="390448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 tool calls/day processed through Natoma's audited gateway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38912" y="4215384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6072" y="416052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Pre-mapped to SOC2 Type II, GDPR, and CCPA requirements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438912" y="4471416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6072" y="441655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EDR, and MDM integration via Natoma — CrowdStrike supported</a:t>
            </a:r>
            <a:endParaRPr lang="en-US" sz="950"/>
          </a:p>
        </p:txBody>
      </p:sp>
      <p:sp>
        <p:nvSpPr>
          <p:cNvPr id="52" name="Shape 50"/>
          <p:cNvSpPr/>
          <p:nvPr/>
        </p:nvSpPr>
        <p:spPr>
          <a:xfrm>
            <a:off x="4700016" y="320040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00016" y="3200400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64608" y="331012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&amp; Runtime Enforcement</a:t>
            </a:r>
            <a:endParaRPr lang="en-US" sz="1200"/>
          </a:p>
        </p:txBody>
      </p:sp>
      <p:sp>
        <p:nvSpPr>
          <p:cNvPr id="55" name="Shape 53"/>
          <p:cNvSpPr/>
          <p:nvPr/>
        </p:nvSpPr>
        <p:spPr>
          <a:xfrm>
            <a:off x="4882896" y="3703320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20056" y="3648456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detection: 225+ unsanctioned AI tools detected per enterprise on average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4882896" y="3959352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20056" y="3904488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MCP server blocking at the network layer — not just at deploy time</a:t>
            </a:r>
            <a:endParaRPr lang="en-US" sz="950"/>
          </a:p>
        </p:txBody>
      </p:sp>
      <p:sp>
        <p:nvSpPr>
          <p:cNvPr id="59" name="Shape 57"/>
          <p:cNvSpPr/>
          <p:nvPr/>
        </p:nvSpPr>
        <p:spPr>
          <a:xfrm>
            <a:off x="4882896" y="4215384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020056" y="416052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behaviour monitored against Cedar policy at runtime continuously</a:t>
            </a:r>
            <a:endParaRPr lang="en-US" sz="950"/>
          </a:p>
        </p:txBody>
      </p:sp>
      <p:sp>
        <p:nvSpPr>
          <p:cNvPr id="61" name="Shape 59"/>
          <p:cNvSpPr/>
          <p:nvPr/>
        </p:nvSpPr>
        <p:spPr>
          <a:xfrm>
            <a:off x="4882896" y="4471416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0056" y="441655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playbooks pre-built · automated circuit-breaker on violations</a:t>
            </a:r>
            <a:endParaRPr lang="en-US" sz="950"/>
          </a:p>
        </p:txBody>
      </p:sp>
      <p:sp>
        <p:nvSpPr>
          <p:cNvPr id="63" name="Shape 6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5760" y="47914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bolt governance on after their first incident. AIONIQ ships it on day one — on SOC2-certified infrastructure trusted by HPE, S&amp;P Global, and Peloton.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Controls Posture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compliance — responsible agent behaviour at scale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6148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6148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438912" y="17190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framework — task-appropriate routing (cost vs latency vs capability)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38912" y="21762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12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 and mitigation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38912" y="26334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 scoring by use case type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38912" y="30906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1272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versioning and rollback capability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38912" y="35478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5844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layer before agent acts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182112" y="1170432"/>
            <a:ext cx="276148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82112" y="1170432"/>
            <a:ext cx="276148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46704" y="12801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1350"/>
          </a:p>
        </p:txBody>
      </p:sp>
      <p:sp>
        <p:nvSpPr>
          <p:cNvPr id="22" name="Shape 20"/>
          <p:cNvSpPr/>
          <p:nvPr/>
        </p:nvSpPr>
        <p:spPr>
          <a:xfrm>
            <a:off x="3346704" y="17190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46704" y="17556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and masking in agent context windows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3346704" y="21762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46704" y="2212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controls — agents operate within defined perimeters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3346704" y="26334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46704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purpose limitation enforcement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3346704" y="30906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46704" y="31272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deletion policies for agent memory and logs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089904" y="1170432"/>
            <a:ext cx="276148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9904" y="1170432"/>
            <a:ext cx="2761488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54496" y="128016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Governance</a:t>
            </a:r>
            <a:endParaRPr lang="en-US" sz="1350"/>
          </a:p>
        </p:txBody>
      </p:sp>
      <p:sp>
        <p:nvSpPr>
          <p:cNvPr id="33" name="Shape 31"/>
          <p:cNvSpPr/>
          <p:nvPr/>
        </p:nvSpPr>
        <p:spPr>
          <a:xfrm>
            <a:off x="6254496" y="17190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54496" y="17556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discovery: 225+ unsanctioned tools detected per org — continuous via Natoma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6254496" y="21762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54496" y="2212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behaviour drift detection and alerting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6254496" y="26334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54496" y="26700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degradation monitoring · capacity and cost guardrails per agent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6254496" y="30906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54496" y="31272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classification and escalation framework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6254496" y="3547872"/>
            <a:ext cx="2432304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54496" y="35844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red-team evaluation protocol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SECTION 5 — GOVERNANCE  ·  RESPONSIBLE AI &amp; CONTROLS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Sprint to Production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 agent — with milestones at every step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777240" y="2029968"/>
            <a:ext cx="7635240" cy="365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256032" cy="25603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201168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207008"/>
            <a:ext cx="1188720" cy="274320"/>
          </a:xfrm>
          <a:prstGeom prst="rect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207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384048" y="1517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Scope &amp; Setup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38912" y="245059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3957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use case boundaries &amp; success metrics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sources: Snowflake + AWS S3 + enterprise feeds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38912" y="3218688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AIONIQ MCP Hub on client AWS environment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438912" y="3602736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5478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data layer accelerators and source connectors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438912" y="3986784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9319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pipelines and baseline data quality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2953512" y="192024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50592" y="2304288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50592" y="2304288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0" y="1207008"/>
            <a:ext cx="1188720" cy="27432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0320" y="1207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2–7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2560320" y="1517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 &amp; Iterate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2615184" y="245059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0" y="23957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agent logic, tool use, orchestration patterns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2615184" y="2834640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0" y="27797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parallel testing against historical datasets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2615184" y="3218688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0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with business stakeholders on output quality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2615184" y="3602736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0" y="35478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RBAC, HITL checkpoints, audit logging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615184" y="3986784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0" y="39319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testing, edge cases, exception flows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5129784" y="1920240"/>
            <a:ext cx="256032" cy="25603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26864" y="2304288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26864" y="2304288"/>
            <a:ext cx="2011680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36592" y="1207008"/>
            <a:ext cx="1188720" cy="274320"/>
          </a:xfrm>
          <a:prstGeom prst="rect">
            <a:avLst/>
          </a:prstGeom>
          <a:solidFill>
            <a:srgbClr val="E05C97">
              <a:alpha val="15000"/>
            </a:srgbClr>
          </a:solidFill>
          <a:ln w="12700">
            <a:solidFill>
              <a:srgbClr val="E05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36592" y="1207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4736592" y="1517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Orchestrate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4791456" y="245059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19472" y="23957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 environment on AWS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4791456" y="2834640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19472" y="27797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access controls and identity governance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791456" y="3218688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19472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downstream systems &amp; notification layer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791456" y="3602736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19472" y="35478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with ops &amp; commercial teams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7306056" y="1920240"/>
            <a:ext cx="256032" cy="25603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03136" y="2304288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03136" y="2304288"/>
            <a:ext cx="201168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12864" y="1207008"/>
            <a:ext cx="1188720" cy="274320"/>
          </a:xfrm>
          <a:prstGeom prst="rect">
            <a:avLst/>
          </a:prstGeom>
          <a:solidFill>
            <a:srgbClr val="0097A7">
              <a:alpha val="15000"/>
            </a:srgbClr>
          </a:solidFill>
          <a:ln w="12700">
            <a:solidFill>
              <a:srgbClr val="0097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12864" y="1207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6912864" y="1517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Expand</a:t>
            </a:r>
            <a:endParaRPr lang="en-US" sz="1100"/>
          </a:p>
        </p:txBody>
      </p:sp>
      <p:sp>
        <p:nvSpPr>
          <p:cNvPr id="59" name="Shape 57"/>
          <p:cNvSpPr/>
          <p:nvPr/>
        </p:nvSpPr>
        <p:spPr>
          <a:xfrm>
            <a:off x="6967728" y="2450592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95744" y="23957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results: accuracy, speed, cost, business value</a:t>
            </a:r>
            <a:endParaRPr lang="en-US" sz="850"/>
          </a:p>
        </p:txBody>
      </p:sp>
      <p:sp>
        <p:nvSpPr>
          <p:cNvPr id="61" name="Shape 59"/>
          <p:cNvSpPr/>
          <p:nvPr/>
        </p:nvSpPr>
        <p:spPr>
          <a:xfrm>
            <a:off x="6967728" y="2834640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95744" y="277977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 for Wave 2–3 use cases</a:t>
            </a:r>
            <a:endParaRPr lang="en-US" sz="850"/>
          </a:p>
        </p:txBody>
      </p:sp>
      <p:sp>
        <p:nvSpPr>
          <p:cNvPr id="63" name="Shape 61"/>
          <p:cNvSpPr/>
          <p:nvPr/>
        </p:nvSpPr>
        <p:spPr>
          <a:xfrm>
            <a:off x="6967728" y="3218688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95744" y="316382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roadmap: 3–5 additional agents defined</a:t>
            </a:r>
            <a:endParaRPr lang="en-US" sz="850"/>
          </a:p>
        </p:txBody>
      </p:sp>
      <p:sp>
        <p:nvSpPr>
          <p:cNvPr id="65" name="Shape 63"/>
          <p:cNvSpPr/>
          <p:nvPr/>
        </p:nvSpPr>
        <p:spPr>
          <a:xfrm>
            <a:off x="6967728" y="3602736"/>
            <a:ext cx="82296" cy="8229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095744" y="354787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Agentic AI Centre of Excellence framework</a:t>
            </a:r>
            <a:endParaRPr lang="en-US" sz="850"/>
          </a:p>
        </p:txBody>
      </p:sp>
      <p:sp>
        <p:nvSpPr>
          <p:cNvPr id="67" name="Shape 6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Parkar invests Months 1–2  ·  No cost until Month 3  ·  Billing starts when you have something running in production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Operating Model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and structure to run agents at scale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432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298448"/>
            <a:ext cx="822960" cy="23774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98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>
                <a:solidFill>
                  <a:srgbClr val="0A1628"/>
                </a:solidFill>
              </a:rPr>
              <a:t>TODAY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1325880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38912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 and sponsor alignment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19385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/ Executive Sponsor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" y="23408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System Owner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27432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+ dbt data foundation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91440" cy="9144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" y="31455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&amp; event ops workflows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182112" y="117043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82112" y="1170432"/>
            <a:ext cx="2743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46704" y="1298448"/>
            <a:ext cx="82296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46704" y="1298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>
                <a:solidFill>
                  <a:srgbClr val="0A1628"/>
                </a:solidFill>
              </a:rPr>
              <a:t>TRANSITION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4233672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Live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3346704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AIONIQ platform onboarded, first agent in production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3364992" y="199339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11296" y="19385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Integration Lead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3364992" y="239572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11296" y="23408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Security Lead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3364992" y="279806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11296" y="27432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as orchestration &amp; agent hosting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364992" y="320040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11296" y="31455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AIONIQ platform live and governed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6089904" y="117043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89904" y="1170432"/>
            <a:ext cx="2743200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54496" y="1298448"/>
            <a:ext cx="822960" cy="23774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54496" y="12984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>
                <a:solidFill>
                  <a:srgbClr val="0A1628"/>
                </a:solidFill>
              </a:rPr>
              <a:t>FUTURE STATE</a:t>
            </a:r>
            <a:endParaRPr lang="en-US" sz="750"/>
          </a:p>
        </p:txBody>
      </p:sp>
      <p:sp>
        <p:nvSpPr>
          <p:cNvPr id="38" name="Text 36"/>
          <p:cNvSpPr/>
          <p:nvPr/>
        </p:nvSpPr>
        <p:spPr>
          <a:xfrm>
            <a:off x="7141464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6254496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CoE running and expanding the agent portfolio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6272784" y="1993392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19088" y="19385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Parkar Agent Architect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6272784" y="2395728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9088" y="234086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Parkar Engineer / Builder</a:t>
            </a:r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6272784" y="2798064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274320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CoE team in place</a:t>
            </a:r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6272784" y="3200400"/>
            <a:ext cx="91440" cy="91440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19088" y="314553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Snowflake as enterprise AI platform</a:t>
            </a:r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2953512" y="2331720"/>
            <a:ext cx="292608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61304" y="2331720"/>
            <a:ext cx="292608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4320" y="3913632"/>
            <a:ext cx="86136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3913632"/>
            <a:ext cx="8613648" cy="64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8912" y="39319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00C2CB"/>
                </a:solidFill>
              </a:rPr>
              <a:t>AGENTIC AI TEAM — 7 ROLES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34747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747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BA</a:t>
            </a:r>
            <a:endParaRPr lang="en-US" sz="800"/>
          </a:p>
        </p:txBody>
      </p:sp>
      <p:sp>
        <p:nvSpPr>
          <p:cNvPr id="55" name="Shape 53"/>
          <p:cNvSpPr/>
          <p:nvPr/>
        </p:nvSpPr>
        <p:spPr>
          <a:xfrm>
            <a:off x="153619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53619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Architect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>
            <a:off x="272491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2491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Engineer</a:t>
            </a:r>
            <a:endParaRPr lang="en-US" sz="800"/>
          </a:p>
        </p:txBody>
      </p:sp>
      <p:sp>
        <p:nvSpPr>
          <p:cNvPr id="59" name="Shape 57"/>
          <p:cNvSpPr/>
          <p:nvPr/>
        </p:nvSpPr>
        <p:spPr>
          <a:xfrm>
            <a:off x="391363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91363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Integration Eng.</a:t>
            </a:r>
            <a:endParaRPr lang="en-US" sz="800"/>
          </a:p>
        </p:txBody>
      </p:sp>
      <p:sp>
        <p:nvSpPr>
          <p:cNvPr id="61" name="Shape 59"/>
          <p:cNvSpPr/>
          <p:nvPr/>
        </p:nvSpPr>
        <p:spPr>
          <a:xfrm>
            <a:off x="510235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10235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DevOps</a:t>
            </a:r>
            <a:endParaRPr lang="en-US" sz="800"/>
          </a:p>
        </p:txBody>
      </p:sp>
      <p:sp>
        <p:nvSpPr>
          <p:cNvPr id="63" name="Shape 61"/>
          <p:cNvSpPr/>
          <p:nvPr/>
        </p:nvSpPr>
        <p:spPr>
          <a:xfrm>
            <a:off x="629107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9107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AI Test Eng.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7479792" y="4160520"/>
            <a:ext cx="10972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79792" y="4160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Governance</a:t>
            </a:r>
            <a:endParaRPr lang="en-US" sz="800"/>
          </a:p>
        </p:txBody>
      </p:sp>
      <p:sp>
        <p:nvSpPr>
          <p:cNvPr id="67" name="Shape 6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SECTION 6 — DELIVERY MODEL  ·  OPERATING MODEL</a:t>
            </a:r>
            <a:endParaRPr 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From Wave 1 Deployments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numbers. Conservative assumptions.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614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76148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" y="1298448"/>
            <a:ext cx="347472" cy="219456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" y="12984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S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822960" y="1298448"/>
            <a:ext cx="640080" cy="21945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2984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97A7"/>
                </a:solidFill>
              </a:rPr>
              <a:t>6 wks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420624" y="15727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Service Bot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20624" y="197510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$306K</a:t>
            </a:r>
            <a:endParaRPr lang="en-US" sz="3400"/>
          </a:p>
        </p:txBody>
      </p:sp>
      <p:sp>
        <p:nvSpPr>
          <p:cNvPr id="14" name="Text 12"/>
          <p:cNvSpPr/>
          <p:nvPr/>
        </p:nvSpPr>
        <p:spPr>
          <a:xfrm>
            <a:off x="420624" y="2542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1993392" y="2057400"/>
            <a:ext cx="822960" cy="384048"/>
          </a:xfrm>
          <a:prstGeom prst="rect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93392" y="2057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ROI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920240" y="24871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~$61K all-in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420624" y="2788920"/>
            <a:ext cx="2432304" cy="2743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" y="288950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employees · 100,000 annual inquiries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438912" y="316382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deflection = 20,000 tickets resolved by AI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438912" y="343814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case creation for 80,000 escalated tickets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38912" y="371246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$6K/yr · Build: $35K · Support: $19.8K/yr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3163824" y="1170432"/>
            <a:ext cx="27614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63824" y="1170432"/>
            <a:ext cx="276148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28416" y="1298448"/>
            <a:ext cx="347472" cy="219456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28416" y="12984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S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3730752" y="1298448"/>
            <a:ext cx="640080" cy="21945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0752" y="12984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97A7"/>
                </a:solidFill>
              </a:rPr>
              <a:t>8 wks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3328416" y="15727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Approval Agent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3328416" y="197510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$110K</a:t>
            </a:r>
            <a:endParaRPr lang="en-US" sz="3400"/>
          </a:p>
        </p:txBody>
      </p:sp>
      <p:sp>
        <p:nvSpPr>
          <p:cNvPr id="35" name="Text 33"/>
          <p:cNvSpPr/>
          <p:nvPr/>
        </p:nvSpPr>
        <p:spPr>
          <a:xfrm>
            <a:off x="3328416" y="2542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4901184" y="2057400"/>
            <a:ext cx="822960" cy="384048"/>
          </a:xfrm>
          <a:prstGeom prst="rect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01184" y="2057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ROI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4828032" y="24871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~$52K all-in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3328416" y="2788920"/>
            <a:ext cx="2432304" cy="2743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46704" y="288950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 annual approval events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3346704" y="31638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7472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AI-assisted routing and context assembly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3346704" y="34381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7472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saved per routine approval · 4 min per exception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3346704" y="371246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0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$10K/yr · Build: $30K · Support: $12K/yr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6071616" y="1170432"/>
            <a:ext cx="27614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71616" y="1170432"/>
            <a:ext cx="2761488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36208" y="1298448"/>
            <a:ext cx="347472" cy="219456"/>
          </a:xfrm>
          <a:prstGeom prst="rect">
            <a:avLst/>
          </a:prstGeom>
          <a:solidFill>
            <a:srgbClr val="E05C97">
              <a:alpha val="20000"/>
            </a:srgbClr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36208" y="12984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M</a:t>
            </a:r>
            <a:endParaRPr lang="en-US" sz="800"/>
          </a:p>
        </p:txBody>
      </p:sp>
      <p:sp>
        <p:nvSpPr>
          <p:cNvPr id="52" name="Shape 50"/>
          <p:cNvSpPr/>
          <p:nvPr/>
        </p:nvSpPr>
        <p:spPr>
          <a:xfrm>
            <a:off x="6638544" y="1298448"/>
            <a:ext cx="640080" cy="219456"/>
          </a:xfrm>
          <a:prstGeom prst="rect">
            <a:avLst/>
          </a:prstGeom>
          <a:solidFill>
            <a:srgbClr val="E0F7F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38544" y="12984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97A7"/>
                </a:solidFill>
              </a:rPr>
              <a:t>12 wks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6236208" y="157276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Agent</a:t>
            </a:r>
            <a:endParaRPr lang="en-US" sz="1400"/>
          </a:p>
        </p:txBody>
      </p:sp>
      <p:sp>
        <p:nvSpPr>
          <p:cNvPr id="55" name="Text 53"/>
          <p:cNvSpPr/>
          <p:nvPr/>
        </p:nvSpPr>
        <p:spPr>
          <a:xfrm>
            <a:off x="6236208" y="197510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</a:t>
            </a:r>
            <a:endParaRPr lang="en-US" sz="3400"/>
          </a:p>
        </p:txBody>
      </p:sp>
      <p:sp>
        <p:nvSpPr>
          <p:cNvPr id="56" name="Text 54"/>
          <p:cNvSpPr/>
          <p:nvPr/>
        </p:nvSpPr>
        <p:spPr>
          <a:xfrm>
            <a:off x="6236208" y="2542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Value</a:t>
            </a:r>
            <a:endParaRPr lang="en-US" sz="850"/>
          </a:p>
        </p:txBody>
      </p:sp>
      <p:sp>
        <p:nvSpPr>
          <p:cNvPr id="57" name="Shape 55"/>
          <p:cNvSpPr/>
          <p:nvPr/>
        </p:nvSpPr>
        <p:spPr>
          <a:xfrm>
            <a:off x="7808976" y="2057400"/>
            <a:ext cx="822960" cy="384048"/>
          </a:xfrm>
          <a:prstGeom prst="rect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08976" y="2057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ROI</a:t>
            </a:r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7735824" y="24871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~$85K all-in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6236208" y="2788920"/>
            <a:ext cx="2432304" cy="2743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54496" y="288950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82512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detection across supplier and logistics feeds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6254496" y="316382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82512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for re-routing and substitution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6254496" y="343814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82512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monitoring hours by 60%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254496" y="371246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82512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procurement and operations teams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65760" y="49011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assumptions  ·  Platform cost is fixed — value compounds as the agent portfolio grows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Value Compounding Effect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makes the next one faster and cheaper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61488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38912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38912" y="2121408"/>
            <a:ext cx="1371600" cy="329184"/>
          </a:xfrm>
          <a:prstGeom prst="rect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214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38912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setup: data connectors built, governance configured, MCP Hub live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182112" y="1170432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170432"/>
            <a:ext cx="276148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46704" y="1280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3346704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Agents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3346704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weeks each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346704" y="2121408"/>
            <a:ext cx="1371600" cy="329184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46704" y="21214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faster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346704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reused · Governance already in place · Architecture proven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089904" y="1170432"/>
            <a:ext cx="276148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9904" y="1170432"/>
            <a:ext cx="2761488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54496" y="1280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254496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Agents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254496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 each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6254496" y="2121408"/>
            <a:ext cx="1371600" cy="329184"/>
          </a:xfrm>
          <a:prstGeom prst="rect">
            <a:avLst/>
          </a:prstGeom>
          <a:solidFill>
            <a:srgbClr val="E05C97">
              <a:alpha val="15000"/>
            </a:srgbClr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54496" y="21214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6254496" y="2514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reused · Team upskilled · CoE running independently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320040" y="363931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COMPOUNDING FACTORS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3886200"/>
            <a:ext cx="64008" cy="8412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Reuse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75488" y="41788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MCP connector built in Wave 1 is available to every subsequent agent — zero rebuild cost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3182112" y="38862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82112" y="3886200"/>
            <a:ext cx="64008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0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Investment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3383280" y="41788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and dbt models built once, reused across all agents in every wave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6089904" y="38862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9904" y="3886200"/>
            <a:ext cx="64008" cy="84124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91072" y="3913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Carry-Forward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6291072" y="41788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HITL, and audit configuration scales without rebuild — governance is a platform asset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SECTION 7 — BUSINESS VALUE  ·  PLATFORM COMPOUNDING EFFECT</a:t>
            </a:r>
            <a:endParaRPr lang="en-US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AIONIQ vs. Build Your Own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build vs. buy calculation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3977640" cy="3547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397764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16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YOURSELF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38912" y="1600200"/>
            <a:ext cx="201168" cy="20116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600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74C3C"/>
                </a:solidFill>
              </a:rPr>
              <a:t>✕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694944" y="15727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months to reach production-grade capability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38912" y="2057400"/>
            <a:ext cx="201168" cy="20116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2057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74C3C"/>
                </a:solidFill>
              </a:rPr>
              <a:t>✕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94944" y="20299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agent architect, data engineer, DevOps, security lead — all hired or contracted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38912" y="2514600"/>
            <a:ext cx="201168" cy="20116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74C3C"/>
                </a:solidFill>
              </a:rPr>
              <a:t>✕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694944" y="24871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retrofitted after first incident — not before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38912" y="2971800"/>
            <a:ext cx="201168" cy="20116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74C3C"/>
                </a:solidFill>
              </a:rPr>
              <a:t>✕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94944" y="29443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update, connector change, compliance requirement is your team's problem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38912" y="3429000"/>
            <a:ext cx="201168" cy="20116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429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74C3C"/>
                </a:solidFill>
              </a:rPr>
              <a:t>✕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694944" y="34015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pre-built accelerators — every component designed from scratch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38912" y="3886200"/>
            <a:ext cx="201168" cy="201168"/>
          </a:xfrm>
          <a:prstGeom prst="rect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74C3C"/>
                </a:solidFill>
              </a:rPr>
              <a:t>✕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94944" y="38587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 burden compounds as agent portfolio grows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892040" y="1115568"/>
            <a:ext cx="3977640" cy="3547872"/>
          </a:xfrm>
          <a:prstGeom prst="rect">
            <a:avLst/>
          </a:prstGeom>
          <a:solidFill>
            <a:srgbClr val="0A2A20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92040" y="1115568"/>
            <a:ext cx="39776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56632" y="1216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AIONIQ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5056632" y="16276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56632" y="1627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✓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312664" y="16002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live in 8 weeks — not 9–12 months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056632" y="20848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56632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✓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5312664" y="20574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accelerators compress every phase of the journey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5056632" y="25420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56632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✓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312664" y="25146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baked in from day one — ships with the platform</a:t>
            </a:r>
            <a:endParaRPr lang="en-US" sz="1000"/>
          </a:p>
        </p:txBody>
      </p:sp>
      <p:sp>
        <p:nvSpPr>
          <p:cNvPr id="39" name="Shape 37"/>
          <p:cNvSpPr/>
          <p:nvPr/>
        </p:nvSpPr>
        <p:spPr>
          <a:xfrm>
            <a:off x="5056632" y="29992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56632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✓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5312664" y="29718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library and agent templates — configure, don't build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5056632" y="34564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56632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✓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5312664" y="34290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investment compounds across waves — 60% faster by Wave 3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5056632" y="391363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56632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A1628"/>
                </a:solidFill>
              </a:rPr>
              <a:t>✓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5312664" y="38862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engineering team focuses on use cases that deliver value — not plumbing</a:t>
            </a:r>
            <a:endParaRPr lang="en-US" sz="1000"/>
          </a:p>
        </p:txBody>
      </p:sp>
      <p:sp>
        <p:nvSpPr>
          <p:cNvPr id="48" name="Shape 46"/>
          <p:cNvSpPr/>
          <p:nvPr/>
        </p:nvSpPr>
        <p:spPr>
          <a:xfrm>
            <a:off x="274320" y="4736592"/>
            <a:ext cx="8613648" cy="320040"/>
          </a:xfrm>
          <a:prstGeom prst="rect">
            <a:avLst/>
          </a:prstGeom>
          <a:solidFill>
            <a:srgbClr val="0A2A1A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1480" y="4745736"/>
            <a:ext cx="8339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your engineering team spending the next 12 months doing — building the platform, or building the agents that deliver business value on top of it?</a:t>
            </a:r>
            <a:endParaRPr lang="en-US"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conversation to production agent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6148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761488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243584"/>
            <a:ext cx="347472" cy="3474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01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841248" y="1298448"/>
            <a:ext cx="749808" cy="182880"/>
          </a:xfrm>
          <a:prstGeom prst="rect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1298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</a:rPr>
              <a:t>PRIORITISE</a:t>
            </a:r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841248" y="14996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Scored Backlog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38912" y="179222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use case backlog for Wave 1, 2, 3 — scored by ROI, readiness, strategic fit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3182112" y="1115568"/>
            <a:ext cx="276148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115568"/>
            <a:ext cx="2761488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46704" y="1243584"/>
            <a:ext cx="347472" cy="3474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46704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02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3749040" y="1298448"/>
            <a:ext cx="749808" cy="182880"/>
          </a:xfrm>
          <a:prstGeom prst="rect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1298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</a:rPr>
              <a:t>PRIORITISE</a:t>
            </a:r>
            <a:endParaRPr lang="en-US" sz="700"/>
          </a:p>
        </p:txBody>
      </p:sp>
      <p:sp>
        <p:nvSpPr>
          <p:cNvPr id="20" name="Text 18"/>
          <p:cNvSpPr/>
          <p:nvPr/>
        </p:nvSpPr>
        <p:spPr>
          <a:xfrm>
            <a:off x="3749040" y="14996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Wave 1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3346704" y="179222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Wave 1 use case and build on AWS + Snowflake foundation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6089904" y="1115568"/>
            <a:ext cx="276148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9904" y="1115568"/>
            <a:ext cx="276148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54496" y="1243584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54496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03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6656832" y="1298448"/>
            <a:ext cx="749808" cy="18288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56832" y="129844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</a:rPr>
              <a:t>VALIDATE</a:t>
            </a:r>
            <a:endParaRPr lang="en-US" sz="700"/>
          </a:p>
        </p:txBody>
      </p:sp>
      <p:sp>
        <p:nvSpPr>
          <p:cNvPr id="28" name="Text 26"/>
          <p:cNvSpPr/>
          <p:nvPr/>
        </p:nvSpPr>
        <p:spPr>
          <a:xfrm>
            <a:off x="6656832" y="149961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Workflow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6254496" y="179222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baseline workflow and data assumptions against readiness scorecard output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274320" y="2532888"/>
            <a:ext cx="276148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2532888"/>
            <a:ext cx="276148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8912" y="2660904"/>
            <a:ext cx="34747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8912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04</a:t>
            </a:r>
            <a:endParaRPr lang="en-US" sz="1300"/>
          </a:p>
        </p:txBody>
      </p:sp>
      <p:sp>
        <p:nvSpPr>
          <p:cNvPr id="34" name="Shape 32"/>
          <p:cNvSpPr/>
          <p:nvPr/>
        </p:nvSpPr>
        <p:spPr>
          <a:xfrm>
            <a:off x="841248" y="2715768"/>
            <a:ext cx="749808" cy="18288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" y="27157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</a:rPr>
              <a:t>VALIDATE</a:t>
            </a:r>
            <a:endParaRPr lang="en-US" sz="700"/>
          </a:p>
        </p:txBody>
      </p:sp>
      <p:sp>
        <p:nvSpPr>
          <p:cNvPr id="36" name="Text 34"/>
          <p:cNvSpPr/>
          <p:nvPr/>
        </p:nvSpPr>
        <p:spPr>
          <a:xfrm>
            <a:off x="841248" y="29169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Metrics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438912" y="320954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 KPIs: detection speed, accuracy, cost savings, time to value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3182112" y="2532888"/>
            <a:ext cx="276148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182112" y="2532888"/>
            <a:ext cx="2761488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46704" y="2660904"/>
            <a:ext cx="347472" cy="347472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46704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05</a:t>
            </a:r>
            <a:endParaRPr lang="en-US" sz="1300"/>
          </a:p>
        </p:txBody>
      </p:sp>
      <p:sp>
        <p:nvSpPr>
          <p:cNvPr id="42" name="Shape 40"/>
          <p:cNvSpPr/>
          <p:nvPr/>
        </p:nvSpPr>
        <p:spPr>
          <a:xfrm>
            <a:off x="3749040" y="2715768"/>
            <a:ext cx="749808" cy="182880"/>
          </a:xfrm>
          <a:prstGeom prst="rect">
            <a:avLst/>
          </a:prstGeom>
          <a:solidFill>
            <a:srgbClr val="E05C97">
              <a:alpha val="15000"/>
            </a:srgbClr>
          </a:solidFill>
          <a:ln w="12700">
            <a:solidFill>
              <a:srgbClr val="E05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49040" y="27157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</a:rPr>
              <a:t>EXECUTE</a:t>
            </a:r>
            <a:endParaRPr lang="en-US" sz="700"/>
          </a:p>
        </p:txBody>
      </p:sp>
      <p:sp>
        <p:nvSpPr>
          <p:cNvPr id="44" name="Text 42"/>
          <p:cNvSpPr/>
          <p:nvPr/>
        </p:nvSpPr>
        <p:spPr>
          <a:xfrm>
            <a:off x="3749040" y="29169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Team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3346704" y="320954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On Location sponsor team and internal CoE lead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6089904" y="2532888"/>
            <a:ext cx="2761488" cy="12618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89904" y="2532888"/>
            <a:ext cx="2761488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54496" y="2660904"/>
            <a:ext cx="347472" cy="347472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54496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1628"/>
                </a:solidFill>
              </a:rPr>
              <a:t>06</a:t>
            </a:r>
            <a:endParaRPr lang="en-US" sz="1300"/>
          </a:p>
        </p:txBody>
      </p:sp>
      <p:sp>
        <p:nvSpPr>
          <p:cNvPr id="50" name="Shape 48"/>
          <p:cNvSpPr/>
          <p:nvPr/>
        </p:nvSpPr>
        <p:spPr>
          <a:xfrm>
            <a:off x="6656832" y="2715768"/>
            <a:ext cx="749808" cy="182880"/>
          </a:xfrm>
          <a:prstGeom prst="rect">
            <a:avLst/>
          </a:prstGeom>
          <a:solidFill>
            <a:srgbClr val="E05C97">
              <a:alpha val="15000"/>
            </a:srgbClr>
          </a:solidFill>
          <a:ln w="12700">
            <a:solidFill>
              <a:srgbClr val="E05C9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56832" y="27157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>
                <a:solidFill>
                  <a:srgbClr val="FFFFFF"/>
                </a:solidFill>
              </a:rPr>
              <a:t>EXECUTE</a:t>
            </a:r>
            <a:endParaRPr lang="en-US" sz="700"/>
          </a:p>
        </p:txBody>
      </p:sp>
      <p:sp>
        <p:nvSpPr>
          <p:cNvPr id="52" name="Text 50"/>
          <p:cNvSpPr/>
          <p:nvPr/>
        </p:nvSpPr>
        <p:spPr>
          <a:xfrm>
            <a:off x="6656832" y="29169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Sprint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6254496" y="3209544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Assess session and discovery sprint — Week 1 clock starts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274320" y="4041648"/>
            <a:ext cx="8613648" cy="914400"/>
          </a:xfrm>
          <a:prstGeom prst="rect">
            <a:avLst/>
          </a:prstGeom>
          <a:solidFill>
            <a:srgbClr val="0A2A20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" y="41148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LOWEST-RISK FIRST STEP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75488" y="43159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 session delivers a scored readiness report and a prioritised agent backlog — regardless of whether you continue with us. Want to get that on the calendar?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Use Case Landscape by Domain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use case matrix across all business domains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20624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&amp; Sales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38912" y="1591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1737360" y="1591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3035808" y="1591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438912" y="18105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Pricing Agent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148840" y="1828800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182880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3474720" y="1810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38912" y="204825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Recommender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148840" y="2066544"/>
            <a:ext cx="292608" cy="182880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48840" y="206654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XS</a:t>
            </a:r>
            <a:endParaRPr lang="en-US" sz="750"/>
          </a:p>
        </p:txBody>
      </p:sp>
      <p:sp>
        <p:nvSpPr>
          <p:cNvPr id="19" name="Text 17"/>
          <p:cNvSpPr/>
          <p:nvPr/>
        </p:nvSpPr>
        <p:spPr>
          <a:xfrm>
            <a:off x="3474720" y="2048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38912" y="22860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Agent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2148840" y="2304288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48840" y="23042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3474720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438912" y="25237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Allocation Bot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148840" y="2542032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48840" y="2542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3474720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4718304" y="117043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18304" y="1170432"/>
            <a:ext cx="4206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82896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Experience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4882896" y="1591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6181344" y="1591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7479792" y="1591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4882896" y="18105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Pre-Event Concierge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592824" y="1828800"/>
            <a:ext cx="292608" cy="1828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92824" y="182880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M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7918704" y="1810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4882896" y="204825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Guest Assistant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6592824" y="2066544"/>
            <a:ext cx="292608" cy="1828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92824" y="206654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M</a:t>
            </a:r>
            <a:endParaRPr lang="en-US" sz="750"/>
          </a:p>
        </p:txBody>
      </p:sp>
      <p:sp>
        <p:nvSpPr>
          <p:cNvPr id="41" name="Text 39"/>
          <p:cNvSpPr/>
          <p:nvPr/>
        </p:nvSpPr>
        <p:spPr>
          <a:xfrm>
            <a:off x="7918704" y="2048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4882896" y="22860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Feedback Loop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6592824" y="2304288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92824" y="230428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45" name="Text 43"/>
          <p:cNvSpPr/>
          <p:nvPr/>
        </p:nvSpPr>
        <p:spPr>
          <a:xfrm>
            <a:off x="7918704" y="22860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4882896" y="25237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Personalisation Agent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6592824" y="2542032"/>
            <a:ext cx="292608" cy="1828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92824" y="2542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M</a:t>
            </a:r>
            <a:endParaRPr lang="en-US" sz="750"/>
          </a:p>
        </p:txBody>
      </p:sp>
      <p:sp>
        <p:nvSpPr>
          <p:cNvPr id="49" name="Text 47"/>
          <p:cNvSpPr/>
          <p:nvPr/>
        </p:nvSpPr>
        <p:spPr>
          <a:xfrm>
            <a:off x="7918704" y="25237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274320" y="304495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74320" y="3044952"/>
            <a:ext cx="4206240" cy="64008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8912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Operations</a:t>
            </a:r>
            <a:endParaRPr lang="en-US" sz="1300"/>
          </a:p>
        </p:txBody>
      </p:sp>
      <p:sp>
        <p:nvSpPr>
          <p:cNvPr id="53" name="Text 51"/>
          <p:cNvSpPr/>
          <p:nvPr/>
        </p:nvSpPr>
        <p:spPr>
          <a:xfrm>
            <a:off x="438912" y="3465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1737360" y="3465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/>
          </a:p>
        </p:txBody>
      </p:sp>
      <p:sp>
        <p:nvSpPr>
          <p:cNvPr id="55" name="Text 53"/>
          <p:cNvSpPr/>
          <p:nvPr/>
        </p:nvSpPr>
        <p:spPr>
          <a:xfrm>
            <a:off x="3035808" y="3465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/>
          </a:p>
        </p:txBody>
      </p:sp>
      <p:sp>
        <p:nvSpPr>
          <p:cNvPr id="56" name="Text 54"/>
          <p:cNvSpPr/>
          <p:nvPr/>
        </p:nvSpPr>
        <p:spPr>
          <a:xfrm>
            <a:off x="438912" y="368503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Coordination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2148840" y="3703320"/>
            <a:ext cx="292608" cy="182880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48840" y="3703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XS</a:t>
            </a:r>
            <a:endParaRPr lang="en-US" sz="750"/>
          </a:p>
        </p:txBody>
      </p:sp>
      <p:sp>
        <p:nvSpPr>
          <p:cNvPr id="59" name="Text 57"/>
          <p:cNvSpPr/>
          <p:nvPr/>
        </p:nvSpPr>
        <p:spPr>
          <a:xfrm>
            <a:off x="3474720" y="3685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60" name="Text 58"/>
          <p:cNvSpPr/>
          <p:nvPr/>
        </p:nvSpPr>
        <p:spPr>
          <a:xfrm>
            <a:off x="438912" y="39227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&amp; Access Bot</a:t>
            </a:r>
            <a:endParaRPr lang="en-US" sz="950"/>
          </a:p>
        </p:txBody>
      </p:sp>
      <p:sp>
        <p:nvSpPr>
          <p:cNvPr id="61" name="Shape 59"/>
          <p:cNvSpPr/>
          <p:nvPr/>
        </p:nvSpPr>
        <p:spPr>
          <a:xfrm>
            <a:off x="2148840" y="3941064"/>
            <a:ext cx="292608" cy="182880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148840" y="39410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XS</a:t>
            </a:r>
            <a:endParaRPr lang="en-US" sz="750"/>
          </a:p>
        </p:txBody>
      </p:sp>
      <p:sp>
        <p:nvSpPr>
          <p:cNvPr id="63" name="Text 61"/>
          <p:cNvSpPr/>
          <p:nvPr/>
        </p:nvSpPr>
        <p:spPr>
          <a:xfrm>
            <a:off x="3474720" y="3922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438912" y="416052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Briefing Summariser</a:t>
            </a:r>
            <a:endParaRPr lang="en-US" sz="950"/>
          </a:p>
        </p:txBody>
      </p:sp>
      <p:sp>
        <p:nvSpPr>
          <p:cNvPr id="65" name="Shape 63"/>
          <p:cNvSpPr/>
          <p:nvPr/>
        </p:nvSpPr>
        <p:spPr>
          <a:xfrm>
            <a:off x="2148840" y="4178808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148840" y="4178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67" name="Text 65"/>
          <p:cNvSpPr/>
          <p:nvPr/>
        </p:nvSpPr>
        <p:spPr>
          <a:xfrm>
            <a:off x="3474720" y="41605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68" name="Text 66"/>
          <p:cNvSpPr/>
          <p:nvPr/>
        </p:nvSpPr>
        <p:spPr>
          <a:xfrm>
            <a:off x="438912" y="439826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Briefing Agent</a:t>
            </a:r>
            <a:endParaRPr lang="en-US" sz="950"/>
          </a:p>
        </p:txBody>
      </p:sp>
      <p:sp>
        <p:nvSpPr>
          <p:cNvPr id="69" name="Shape 67"/>
          <p:cNvSpPr/>
          <p:nvPr/>
        </p:nvSpPr>
        <p:spPr>
          <a:xfrm>
            <a:off x="2148840" y="4416552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148840" y="44165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71" name="Text 69"/>
          <p:cNvSpPr/>
          <p:nvPr/>
        </p:nvSpPr>
        <p:spPr>
          <a:xfrm>
            <a:off x="3474720" y="4398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72" name="Shape 70"/>
          <p:cNvSpPr/>
          <p:nvPr/>
        </p:nvSpPr>
        <p:spPr>
          <a:xfrm>
            <a:off x="4718304" y="3044952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718304" y="3044952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882896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Finance</a:t>
            </a:r>
            <a:endParaRPr lang="en-US" sz="1300"/>
          </a:p>
        </p:txBody>
      </p:sp>
      <p:sp>
        <p:nvSpPr>
          <p:cNvPr id="75" name="Text 73"/>
          <p:cNvSpPr/>
          <p:nvPr/>
        </p:nvSpPr>
        <p:spPr>
          <a:xfrm>
            <a:off x="4882896" y="3465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6181344" y="3465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/>
          </a:p>
        </p:txBody>
      </p:sp>
      <p:sp>
        <p:nvSpPr>
          <p:cNvPr id="77" name="Text 75"/>
          <p:cNvSpPr/>
          <p:nvPr/>
        </p:nvSpPr>
        <p:spPr>
          <a:xfrm>
            <a:off x="7479792" y="3465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50"/>
          </a:p>
        </p:txBody>
      </p:sp>
      <p:sp>
        <p:nvSpPr>
          <p:cNvPr id="78" name="Text 76"/>
          <p:cNvSpPr/>
          <p:nvPr/>
        </p:nvSpPr>
        <p:spPr>
          <a:xfrm>
            <a:off x="4882896" y="368503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Review Agent</a:t>
            </a:r>
            <a:endParaRPr lang="en-US" sz="950"/>
          </a:p>
        </p:txBody>
      </p:sp>
      <p:sp>
        <p:nvSpPr>
          <p:cNvPr id="79" name="Shape 77"/>
          <p:cNvSpPr/>
          <p:nvPr/>
        </p:nvSpPr>
        <p:spPr>
          <a:xfrm>
            <a:off x="6592824" y="3703320"/>
            <a:ext cx="292608" cy="182880"/>
          </a:xfrm>
          <a:prstGeom prst="rect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592824" y="37033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L</a:t>
            </a:r>
            <a:endParaRPr lang="en-US" sz="750"/>
          </a:p>
        </p:txBody>
      </p:sp>
      <p:sp>
        <p:nvSpPr>
          <p:cNvPr id="81" name="Text 79"/>
          <p:cNvSpPr/>
          <p:nvPr/>
        </p:nvSpPr>
        <p:spPr>
          <a:xfrm>
            <a:off x="7918704" y="36850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82" name="Text 80"/>
          <p:cNvSpPr/>
          <p:nvPr/>
        </p:nvSpPr>
        <p:spPr>
          <a:xfrm>
            <a:off x="4882896" y="392277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Reconciliation Bot</a:t>
            </a:r>
            <a:endParaRPr lang="en-US" sz="950"/>
          </a:p>
        </p:txBody>
      </p:sp>
      <p:sp>
        <p:nvSpPr>
          <p:cNvPr id="83" name="Shape 81"/>
          <p:cNvSpPr/>
          <p:nvPr/>
        </p:nvSpPr>
        <p:spPr>
          <a:xfrm>
            <a:off x="6592824" y="3941064"/>
            <a:ext cx="292608" cy="1828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592824" y="39410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M</a:t>
            </a:r>
            <a:endParaRPr lang="en-US" sz="750"/>
          </a:p>
        </p:txBody>
      </p:sp>
      <p:sp>
        <p:nvSpPr>
          <p:cNvPr id="85" name="Text 83"/>
          <p:cNvSpPr/>
          <p:nvPr/>
        </p:nvSpPr>
        <p:spPr>
          <a:xfrm>
            <a:off x="7918704" y="3922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86" name="Text 84"/>
          <p:cNvSpPr/>
          <p:nvPr/>
        </p:nvSpPr>
        <p:spPr>
          <a:xfrm>
            <a:off x="4882896" y="416052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Holder Reporting</a:t>
            </a:r>
            <a:endParaRPr lang="en-US" sz="950"/>
          </a:p>
        </p:txBody>
      </p:sp>
      <p:sp>
        <p:nvSpPr>
          <p:cNvPr id="87" name="Shape 85"/>
          <p:cNvSpPr/>
          <p:nvPr/>
        </p:nvSpPr>
        <p:spPr>
          <a:xfrm>
            <a:off x="6592824" y="4178808"/>
            <a:ext cx="292608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592824" y="4178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S</a:t>
            </a:r>
            <a:endParaRPr lang="en-US" sz="750"/>
          </a:p>
        </p:txBody>
      </p:sp>
      <p:sp>
        <p:nvSpPr>
          <p:cNvPr id="89" name="Text 87"/>
          <p:cNvSpPr/>
          <p:nvPr/>
        </p:nvSpPr>
        <p:spPr>
          <a:xfrm>
            <a:off x="7918704" y="41605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/>
          </a:p>
        </p:txBody>
      </p:sp>
      <p:sp>
        <p:nvSpPr>
          <p:cNvPr id="90" name="Text 88"/>
          <p:cNvSpPr/>
          <p:nvPr/>
        </p:nvSpPr>
        <p:spPr>
          <a:xfrm>
            <a:off x="4882896" y="439826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Agent</a:t>
            </a:r>
            <a:endParaRPr lang="en-US" sz="950"/>
          </a:p>
        </p:txBody>
      </p:sp>
      <p:sp>
        <p:nvSpPr>
          <p:cNvPr id="91" name="Shape 89"/>
          <p:cNvSpPr/>
          <p:nvPr/>
        </p:nvSpPr>
        <p:spPr>
          <a:xfrm>
            <a:off x="6592824" y="4416552"/>
            <a:ext cx="292608" cy="1828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592824" y="44165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A1628"/>
                </a:solidFill>
              </a:rPr>
              <a:t>M</a:t>
            </a:r>
            <a:endParaRPr lang="en-US" sz="750"/>
          </a:p>
        </p:txBody>
      </p:sp>
      <p:sp>
        <p:nvSpPr>
          <p:cNvPr id="93" name="Text 91"/>
          <p:cNvSpPr/>
          <p:nvPr/>
        </p:nvSpPr>
        <p:spPr>
          <a:xfrm>
            <a:off x="7918704" y="4398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/>
          </a:p>
        </p:txBody>
      </p:sp>
      <p:sp>
        <p:nvSpPr>
          <p:cNvPr id="94" name="Shape 9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APPENDIX A1 — USE CASE LANDSCAPE</a:t>
            </a:r>
            <a:endParaRPr lang="en-US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Data Layer Architecture Deep Dive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Connector specifications, pipeline templates, and vector database options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61364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613648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Connector Specifications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38912" y="160934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554480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(S/4HANA, ECC) · Salesforce CRM &amp; Marketing · Workday HCM &amp; Finance · ServiceNow ITSM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38912" y="1810512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75564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Cloud · Databricks Unity Catalog · NetSuite ERP · HubSpot CRM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38912" y="201168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956816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 T&amp;E · AWS S3 (Delta/Parquet) · Fivetran managed connectors · MuleSoft Anypoint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38912" y="2212848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157984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OAuth 2.0, API key, service account · Sync modes: full, incremental, CDC · Schema auto-mapping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74320" y="2404872"/>
            <a:ext cx="861364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404872"/>
            <a:ext cx="861364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496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Library — 8 Templates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38912" y="284378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788920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Resolution: cross-system customer/supplier deduplication and golden record creation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38912" y="304495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99008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Chunking: document ingestion, semantic splitting, embedding prep for vector storage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38912" y="324612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191256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 Normalisation: time-series event data standardisation across source systems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38912" y="344728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3392424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Schema: immutable agent action logging with lineage and timestamp integrity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38912" y="364845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" y="359359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Harmonisation: product, location, and org hierarchy alignment across ERPs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274320" y="3639312"/>
            <a:ext cx="861364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639312"/>
            <a:ext cx="8613648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912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Setup Templates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438912" y="407822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4023360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(PostgreSQL): self-hosted, low-cost, suitable for &lt;10M vectors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38912" y="4279392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422452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Pinecone: managed, serverless, production-grade for enterprise RAG workloads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38912" y="448056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4425696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Weaviate: hybrid search (vector + keyword), strong for document-heavy agents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38912" y="4681728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" y="4626864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models: OpenAI ada-002, Cohere Embed, AWS Bedrock Titan — configurable per use case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APPENDIX A2 — DATA LAYER ARCHITECTURE</a:t>
            </a:r>
            <a:endParaRPr lang="en-US"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Natoma Gateway &amp; LangChain Framework Spec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Gateway capabilities, deployment modes, and agent framework detail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6136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 ENTERPRISE MCP GATEWAY  —  SOC2 Certified · GDPR · CCPA · 1.8M Tool Calls/Day · 225+ Shadow AIs Detected per Org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29768" y="188366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gateway (default) — single endpoint, zero infra to manage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29768" y="2176272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121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deployment — for regulated industries requiring data perimeter control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429768" y="246888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1401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— available for air-gapped or sovereign cloud environments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429768" y="2761488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706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MCP server support for endpoint-level agent access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3182112" y="14630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82112" y="146304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9272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Policy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3337560" y="188366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56432" y="18288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policy engine — industry-standard, auditable, open-source (AWS)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3337560" y="217627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56432" y="2121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control: user, group, device, AI client context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56432" y="241401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credentials or BYO credentials — both supported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3337560" y="276148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2706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filters · context-aware enforcement · per-connection tool enable/disable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6089904" y="14630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89904" y="1463040"/>
            <a:ext cx="2743200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6245352" y="188366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64224" y="18288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integration · SIEM · EDR · MDM security stack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6245352" y="2176272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64224" y="2121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discovery and governance — detect and block unsanctioned AI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6245352" y="246888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64224" y="241401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and activity logs with export capability</a:t>
            </a:r>
            <a:endParaRPr lang="en-US" sz="850"/>
          </a:p>
        </p:txBody>
      </p:sp>
      <p:sp>
        <p:nvSpPr>
          <p:cNvPr id="39" name="Shape 37"/>
          <p:cNvSpPr/>
          <p:nvPr/>
        </p:nvSpPr>
        <p:spPr>
          <a:xfrm>
            <a:off x="6245352" y="2761488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64224" y="27066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Profiles: role-based toolkits deployed org-wide via single URL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274320" y="3182112"/>
            <a:ext cx="86136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11480" y="32004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 AGENT FRAMEWORK  —  Primary build framework for AIONIQ agents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274320" y="34747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3474720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148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(Complex Agents)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429768" y="389534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" y="384048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 model — nodes are reasoning steps, edges are decision paths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29768" y="416966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8640" y="41148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stateful memory across long multi-step workflows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429768" y="444398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8640" y="43891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HITL: interrupt, inspect, resume patterns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429768" y="4718304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48640" y="46634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contract analysis, compliance, demand forecasting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3182112" y="34747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182112" y="347472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19272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(Multi-Agent)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3337560" y="38953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456432" y="384048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agent crews — each agent has a goal, backstory, and tools</a:t>
            </a:r>
            <a:endParaRPr lang="en-US" sz="850"/>
          </a:p>
        </p:txBody>
      </p:sp>
      <p:sp>
        <p:nvSpPr>
          <p:cNvPr id="59" name="Shape 57"/>
          <p:cNvSpPr/>
          <p:nvPr/>
        </p:nvSpPr>
        <p:spPr>
          <a:xfrm>
            <a:off x="3337560" y="416966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456432" y="41148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patterns: researcher → analyst → approver workflows</a:t>
            </a:r>
            <a:endParaRPr lang="en-US" sz="850"/>
          </a:p>
        </p:txBody>
      </p:sp>
      <p:sp>
        <p:nvSpPr>
          <p:cNvPr id="61" name="Shape 59"/>
          <p:cNvSpPr/>
          <p:nvPr/>
        </p:nvSpPr>
        <p:spPr>
          <a:xfrm>
            <a:off x="3337560" y="444398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456432" y="43891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 for business process automation with multiple stakeholders</a:t>
            </a:r>
            <a:endParaRPr lang="en-US" sz="850"/>
          </a:p>
        </p:txBody>
      </p:sp>
      <p:sp>
        <p:nvSpPr>
          <p:cNvPr id="63" name="Shape 61"/>
          <p:cNvSpPr/>
          <p:nvPr/>
        </p:nvSpPr>
        <p:spPr>
          <a:xfrm>
            <a:off x="3337560" y="471830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456432" y="46634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onboarding, research pipelines, exception handling</a:t>
            </a:r>
            <a:endParaRPr lang="en-US" sz="850"/>
          </a:p>
        </p:txBody>
      </p:sp>
      <p:sp>
        <p:nvSpPr>
          <p:cNvPr id="65" name="Shape 63"/>
          <p:cNvSpPr/>
          <p:nvPr/>
        </p:nvSpPr>
        <p:spPr>
          <a:xfrm>
            <a:off x="6089904" y="3474720"/>
            <a:ext cx="27432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089904" y="3474720"/>
            <a:ext cx="2743200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227064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 (Managed)</a:t>
            </a:r>
            <a:endParaRPr lang="en-US" sz="1100"/>
          </a:p>
        </p:txBody>
      </p:sp>
      <p:sp>
        <p:nvSpPr>
          <p:cNvPr id="68" name="Shape 66"/>
          <p:cNvSpPr/>
          <p:nvPr/>
        </p:nvSpPr>
        <p:spPr>
          <a:xfrm>
            <a:off x="6245352" y="389534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64224" y="384048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on AWS — no framework infra to run or maintain</a:t>
            </a:r>
            <a:endParaRPr lang="en-US" sz="850"/>
          </a:p>
        </p:txBody>
      </p:sp>
      <p:sp>
        <p:nvSpPr>
          <p:cNvPr id="70" name="Shape 68"/>
          <p:cNvSpPr/>
          <p:nvPr/>
        </p:nvSpPr>
        <p:spPr>
          <a:xfrm>
            <a:off x="6245352" y="416966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364224" y="41148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groups map directly to Natoma MCP tool calls</a:t>
            </a:r>
            <a:endParaRPr lang="en-US" sz="850"/>
          </a:p>
        </p:txBody>
      </p:sp>
      <p:sp>
        <p:nvSpPr>
          <p:cNvPr id="72" name="Shape 70"/>
          <p:cNvSpPr/>
          <p:nvPr/>
        </p:nvSpPr>
        <p:spPr>
          <a:xfrm>
            <a:off x="6245352" y="444398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364224" y="43891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PO approvals, HR deflection, report generation (XS/S agents)</a:t>
            </a:r>
            <a:endParaRPr lang="en-US" sz="850"/>
          </a:p>
        </p:txBody>
      </p:sp>
      <p:sp>
        <p:nvSpPr>
          <p:cNvPr id="74" name="Shape 72"/>
          <p:cNvSpPr/>
          <p:nvPr/>
        </p:nvSpPr>
        <p:spPr>
          <a:xfrm>
            <a:off x="6245352" y="4718304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364224" y="46634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AWS IAM and KMS integration for data security</a:t>
            </a:r>
            <a:endParaRPr lang="en-US" sz="850"/>
          </a:p>
        </p:txBody>
      </p:sp>
      <p:sp>
        <p:nvSpPr>
          <p:cNvPr id="76" name="Shape 7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APPENDIX A3 — NATOMA GATEWAY &amp; LANGCHAIN FRAMEWORK SPECIFICATION</a:t>
            </a:r>
            <a:endParaRPr lang="en-US" sz="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Agent Template Catalogue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12 production-ready archetypes — configure and deploy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613648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Template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3429000" y="1188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950208" y="1188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6035040" y="11887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Pattern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7296912" y="1188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274320" y="1463040"/>
            <a:ext cx="8613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490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 &amp; Extraction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2286000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Legal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3429000" y="1517904"/>
            <a:ext cx="347472" cy="164592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15179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S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3950208" y="1490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DocuSign, S3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6035040" y="14904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approval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7296912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274320" y="1755648"/>
            <a:ext cx="8613648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Routing &amp; Escalation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22860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HR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29000" y="1810512"/>
            <a:ext cx="347472" cy="164592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29000" y="181051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S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3950208" y="1783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Workday, Slack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03504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approval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7296912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274320" y="2048256"/>
            <a:ext cx="8613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0756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Reconciliation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2286000" y="2075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Ops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3429000" y="2103120"/>
            <a:ext cx="347472" cy="16459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29000" y="21031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M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3950208" y="20756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NetSuite, SAP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6035040" y="2075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Notify-only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7296912" y="2075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74320" y="2340864"/>
            <a:ext cx="8613648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2368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2286000" y="2368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3429000" y="2395728"/>
            <a:ext cx="347472" cy="16459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29000" y="239572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M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3950208" y="23682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SAP, Salesforce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6035040" y="2368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Notify-only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7296912" y="23682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274320" y="2633472"/>
            <a:ext cx="8613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2660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Inquiry Deflection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2286000" y="26609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Exp.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3429000" y="2688336"/>
            <a:ext cx="347472" cy="164592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29000" y="26883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XS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3950208" y="2660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KB, ticketing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6035040" y="2660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7296912" y="26609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274320" y="2926080"/>
            <a:ext cx="8613648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0040" y="2953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Workflow</a:t>
            </a:r>
            <a:endParaRPr lang="en-US" sz="950"/>
          </a:p>
        </p:txBody>
      </p:sp>
      <p:sp>
        <p:nvSpPr>
          <p:cNvPr id="55" name="Text 53"/>
          <p:cNvSpPr/>
          <p:nvPr/>
        </p:nvSpPr>
        <p:spPr>
          <a:xfrm>
            <a:off x="2286000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3429000" y="2980944"/>
            <a:ext cx="347472" cy="164592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29000" y="298094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S</a:t>
            </a:r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3950208" y="29535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Workday, Jira, Slack, Email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603504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approval</a:t>
            </a:r>
            <a:endParaRPr lang="en-US" sz="900"/>
          </a:p>
        </p:txBody>
      </p:sp>
      <p:sp>
        <p:nvSpPr>
          <p:cNvPr id="60" name="Text 58"/>
          <p:cNvSpPr/>
          <p:nvPr/>
        </p:nvSpPr>
        <p:spPr>
          <a:xfrm>
            <a:off x="7296912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850"/>
          </a:p>
        </p:txBody>
      </p:sp>
      <p:sp>
        <p:nvSpPr>
          <p:cNvPr id="61" name="Shape 59"/>
          <p:cNvSpPr/>
          <p:nvPr/>
        </p:nvSpPr>
        <p:spPr>
          <a:xfrm>
            <a:off x="274320" y="3218688"/>
            <a:ext cx="8613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20040" y="3246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&amp; Distribution</a:t>
            </a:r>
            <a:endParaRPr lang="en-US" sz="950"/>
          </a:p>
        </p:txBody>
      </p:sp>
      <p:sp>
        <p:nvSpPr>
          <p:cNvPr id="63" name="Text 61"/>
          <p:cNvSpPr/>
          <p:nvPr/>
        </p:nvSpPr>
        <p:spPr>
          <a:xfrm>
            <a:off x="228600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/>
          </a:p>
        </p:txBody>
      </p:sp>
      <p:sp>
        <p:nvSpPr>
          <p:cNvPr id="64" name="Shape 62"/>
          <p:cNvSpPr/>
          <p:nvPr/>
        </p:nvSpPr>
        <p:spPr>
          <a:xfrm>
            <a:off x="3429000" y="3273552"/>
            <a:ext cx="347472" cy="164592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429000" y="32735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XS</a:t>
            </a:r>
            <a:endParaRPr lang="en-US" sz="800"/>
          </a:p>
        </p:txBody>
      </p:sp>
      <p:sp>
        <p:nvSpPr>
          <p:cNvPr id="66" name="Text 64"/>
          <p:cNvSpPr/>
          <p:nvPr/>
        </p:nvSpPr>
        <p:spPr>
          <a:xfrm>
            <a:off x="3950208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BI tools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6035040" y="3246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Notify-only</a:t>
            </a:r>
            <a:endParaRPr lang="en-US" sz="900"/>
          </a:p>
        </p:txBody>
      </p:sp>
      <p:sp>
        <p:nvSpPr>
          <p:cNvPr id="68" name="Text 66"/>
          <p:cNvSpPr/>
          <p:nvPr/>
        </p:nvSpPr>
        <p:spPr>
          <a:xfrm>
            <a:off x="7296912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850"/>
          </a:p>
        </p:txBody>
      </p:sp>
      <p:sp>
        <p:nvSpPr>
          <p:cNvPr id="69" name="Shape 67"/>
          <p:cNvSpPr/>
          <p:nvPr/>
        </p:nvSpPr>
        <p:spPr>
          <a:xfrm>
            <a:off x="274320" y="3511296"/>
            <a:ext cx="8613648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20040" y="3538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Detection &amp; Alerting</a:t>
            </a:r>
            <a:endParaRPr lang="en-US" sz="950"/>
          </a:p>
        </p:txBody>
      </p:sp>
      <p:sp>
        <p:nvSpPr>
          <p:cNvPr id="71" name="Text 69"/>
          <p:cNvSpPr/>
          <p:nvPr/>
        </p:nvSpPr>
        <p:spPr>
          <a:xfrm>
            <a:off x="2286000" y="3538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/>
          </a:p>
        </p:txBody>
      </p:sp>
      <p:sp>
        <p:nvSpPr>
          <p:cNvPr id="72" name="Shape 70"/>
          <p:cNvSpPr/>
          <p:nvPr/>
        </p:nvSpPr>
        <p:spPr>
          <a:xfrm>
            <a:off x="3429000" y="3566160"/>
            <a:ext cx="347472" cy="164592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429000" y="35661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S</a:t>
            </a:r>
            <a:endParaRPr lang="en-US" sz="800"/>
          </a:p>
        </p:txBody>
      </p:sp>
      <p:sp>
        <p:nvSpPr>
          <p:cNvPr id="74" name="Text 72"/>
          <p:cNvSpPr/>
          <p:nvPr/>
        </p:nvSpPr>
        <p:spPr>
          <a:xfrm>
            <a:off x="3950208" y="3538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streams, Snowflake</a:t>
            </a:r>
            <a:endParaRPr lang="en-US" sz="850"/>
          </a:p>
        </p:txBody>
      </p:sp>
      <p:sp>
        <p:nvSpPr>
          <p:cNvPr id="75" name="Text 73"/>
          <p:cNvSpPr/>
          <p:nvPr/>
        </p:nvSpPr>
        <p:spPr>
          <a:xfrm>
            <a:off x="6035040" y="35387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approval</a:t>
            </a:r>
            <a:endParaRPr lang="en-US" sz="900"/>
          </a:p>
        </p:txBody>
      </p:sp>
      <p:sp>
        <p:nvSpPr>
          <p:cNvPr id="76" name="Text 74"/>
          <p:cNvSpPr/>
          <p:nvPr/>
        </p:nvSpPr>
        <p:spPr>
          <a:xfrm>
            <a:off x="7296912" y="3538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/>
          </a:p>
        </p:txBody>
      </p:sp>
      <p:sp>
        <p:nvSpPr>
          <p:cNvPr id="77" name="Shape 75"/>
          <p:cNvSpPr/>
          <p:nvPr/>
        </p:nvSpPr>
        <p:spPr>
          <a:xfrm>
            <a:off x="274320" y="3803904"/>
            <a:ext cx="8613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20040" y="38313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</a:t>
            </a:r>
            <a:endParaRPr lang="en-US" sz="950"/>
          </a:p>
        </p:txBody>
      </p:sp>
      <p:sp>
        <p:nvSpPr>
          <p:cNvPr id="79" name="Text 77"/>
          <p:cNvSpPr/>
          <p:nvPr/>
        </p:nvSpPr>
        <p:spPr>
          <a:xfrm>
            <a:off x="2286000" y="38313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Procurement</a:t>
            </a:r>
            <a:endParaRPr lang="en-US" sz="900"/>
          </a:p>
        </p:txBody>
      </p:sp>
      <p:sp>
        <p:nvSpPr>
          <p:cNvPr id="80" name="Shape 78"/>
          <p:cNvSpPr/>
          <p:nvPr/>
        </p:nvSpPr>
        <p:spPr>
          <a:xfrm>
            <a:off x="3429000" y="3858768"/>
            <a:ext cx="347472" cy="16459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429000" y="385876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M</a:t>
            </a:r>
            <a:endParaRPr lang="en-US" sz="800"/>
          </a:p>
        </p:txBody>
      </p:sp>
      <p:sp>
        <p:nvSpPr>
          <p:cNvPr id="82" name="Text 80"/>
          <p:cNvSpPr/>
          <p:nvPr/>
        </p:nvSpPr>
        <p:spPr>
          <a:xfrm>
            <a:off x="3950208" y="3831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DocuSign, SharePoint, SAP</a:t>
            </a:r>
            <a:endParaRPr lang="en-US" sz="850"/>
          </a:p>
        </p:txBody>
      </p:sp>
      <p:sp>
        <p:nvSpPr>
          <p:cNvPr id="83" name="Text 81"/>
          <p:cNvSpPr/>
          <p:nvPr/>
        </p:nvSpPr>
        <p:spPr>
          <a:xfrm>
            <a:off x="6035040" y="38313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approval</a:t>
            </a:r>
            <a:endParaRPr lang="en-US" sz="900"/>
          </a:p>
        </p:txBody>
      </p:sp>
      <p:sp>
        <p:nvSpPr>
          <p:cNvPr id="84" name="Text 82"/>
          <p:cNvSpPr/>
          <p:nvPr/>
        </p:nvSpPr>
        <p:spPr>
          <a:xfrm>
            <a:off x="7296912" y="38313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/>
          </a:p>
        </p:txBody>
      </p:sp>
      <p:sp>
        <p:nvSpPr>
          <p:cNvPr id="85" name="Shape 83"/>
          <p:cNvSpPr/>
          <p:nvPr/>
        </p:nvSpPr>
        <p:spPr>
          <a:xfrm>
            <a:off x="274320" y="4096512"/>
            <a:ext cx="8613648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20040" y="41239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Optimisation</a:t>
            </a:r>
            <a:endParaRPr lang="en-US" sz="950"/>
          </a:p>
        </p:txBody>
      </p:sp>
      <p:sp>
        <p:nvSpPr>
          <p:cNvPr id="87" name="Text 85"/>
          <p:cNvSpPr/>
          <p:nvPr/>
        </p:nvSpPr>
        <p:spPr>
          <a:xfrm>
            <a:off x="2286000" y="4123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900"/>
          </a:p>
        </p:txBody>
      </p:sp>
      <p:sp>
        <p:nvSpPr>
          <p:cNvPr id="88" name="Shape 86"/>
          <p:cNvSpPr/>
          <p:nvPr/>
        </p:nvSpPr>
        <p:spPr>
          <a:xfrm>
            <a:off x="3429000" y="4151376"/>
            <a:ext cx="347472" cy="164592"/>
          </a:xfrm>
          <a:prstGeom prst="rect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429000" y="415137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L</a:t>
            </a:r>
            <a:endParaRPr lang="en-US" sz="800"/>
          </a:p>
        </p:txBody>
      </p:sp>
      <p:sp>
        <p:nvSpPr>
          <p:cNvPr id="90" name="Text 88"/>
          <p:cNvSpPr/>
          <p:nvPr/>
        </p:nvSpPr>
        <p:spPr>
          <a:xfrm>
            <a:off x="3950208" y="41239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WMS, Databricks</a:t>
            </a:r>
            <a:endParaRPr lang="en-US" sz="850"/>
          </a:p>
        </p:txBody>
      </p:sp>
      <p:sp>
        <p:nvSpPr>
          <p:cNvPr id="91" name="Text 89"/>
          <p:cNvSpPr/>
          <p:nvPr/>
        </p:nvSpPr>
        <p:spPr>
          <a:xfrm>
            <a:off x="6035040" y="41239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Notify-only</a:t>
            </a:r>
            <a:endParaRPr lang="en-US" sz="900"/>
          </a:p>
        </p:txBody>
      </p:sp>
      <p:sp>
        <p:nvSpPr>
          <p:cNvPr id="92" name="Text 90"/>
          <p:cNvSpPr/>
          <p:nvPr/>
        </p:nvSpPr>
        <p:spPr>
          <a:xfrm>
            <a:off x="7296912" y="41239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850"/>
          </a:p>
        </p:txBody>
      </p:sp>
      <p:sp>
        <p:nvSpPr>
          <p:cNvPr id="93" name="Shape 91"/>
          <p:cNvSpPr/>
          <p:nvPr/>
        </p:nvSpPr>
        <p:spPr>
          <a:xfrm>
            <a:off x="274320" y="4389120"/>
            <a:ext cx="861364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20040" y="4416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950"/>
          </a:p>
        </p:txBody>
      </p:sp>
      <p:sp>
        <p:nvSpPr>
          <p:cNvPr id="95" name="Text 93"/>
          <p:cNvSpPr/>
          <p:nvPr/>
        </p:nvSpPr>
        <p:spPr>
          <a:xfrm>
            <a:off x="2286000" y="44165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Legal</a:t>
            </a:r>
            <a:endParaRPr lang="en-US" sz="900"/>
          </a:p>
        </p:txBody>
      </p:sp>
      <p:sp>
        <p:nvSpPr>
          <p:cNvPr id="96" name="Shape 94"/>
          <p:cNvSpPr/>
          <p:nvPr/>
        </p:nvSpPr>
        <p:spPr>
          <a:xfrm>
            <a:off x="3429000" y="4443984"/>
            <a:ext cx="347472" cy="16459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429000" y="44439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M</a:t>
            </a:r>
            <a:endParaRPr lang="en-US" sz="800"/>
          </a:p>
        </p:txBody>
      </p:sp>
      <p:sp>
        <p:nvSpPr>
          <p:cNvPr id="98" name="Text 96"/>
          <p:cNvSpPr/>
          <p:nvPr/>
        </p:nvSpPr>
        <p:spPr>
          <a:xfrm>
            <a:off x="3950208" y="4416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systems, audit logs</a:t>
            </a:r>
            <a:endParaRPr lang="en-US" sz="850"/>
          </a:p>
        </p:txBody>
      </p:sp>
      <p:sp>
        <p:nvSpPr>
          <p:cNvPr id="99" name="Text 97"/>
          <p:cNvSpPr/>
          <p:nvPr/>
        </p:nvSpPr>
        <p:spPr>
          <a:xfrm>
            <a:off x="6035040" y="4416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approval</a:t>
            </a:r>
            <a:endParaRPr lang="en-US" sz="900"/>
          </a:p>
        </p:txBody>
      </p:sp>
      <p:sp>
        <p:nvSpPr>
          <p:cNvPr id="100" name="Text 98"/>
          <p:cNvSpPr/>
          <p:nvPr/>
        </p:nvSpPr>
        <p:spPr>
          <a:xfrm>
            <a:off x="7296912" y="44165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850"/>
          </a:p>
        </p:txBody>
      </p:sp>
      <p:sp>
        <p:nvSpPr>
          <p:cNvPr id="101" name="Shape 99"/>
          <p:cNvSpPr/>
          <p:nvPr/>
        </p:nvSpPr>
        <p:spPr>
          <a:xfrm>
            <a:off x="274320" y="4681728"/>
            <a:ext cx="8613648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320040" y="4709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Feedback Synthesis</a:t>
            </a:r>
            <a:endParaRPr lang="en-US" sz="950"/>
          </a:p>
        </p:txBody>
      </p:sp>
      <p:sp>
        <p:nvSpPr>
          <p:cNvPr id="103" name="Text 101"/>
          <p:cNvSpPr/>
          <p:nvPr/>
        </p:nvSpPr>
        <p:spPr>
          <a:xfrm>
            <a:off x="228600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Exp.</a:t>
            </a:r>
            <a:endParaRPr lang="en-US" sz="900"/>
          </a:p>
        </p:txBody>
      </p:sp>
      <p:sp>
        <p:nvSpPr>
          <p:cNvPr id="104" name="Shape 102"/>
          <p:cNvSpPr/>
          <p:nvPr/>
        </p:nvSpPr>
        <p:spPr>
          <a:xfrm>
            <a:off x="3429000" y="4736592"/>
            <a:ext cx="347472" cy="164592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429000" y="473659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A1628"/>
                </a:solidFill>
              </a:rPr>
              <a:t>XS</a:t>
            </a:r>
            <a:endParaRPr lang="en-US" sz="800"/>
          </a:p>
        </p:txBody>
      </p:sp>
      <p:sp>
        <p:nvSpPr>
          <p:cNvPr id="106" name="Text 104"/>
          <p:cNvSpPr/>
          <p:nvPr/>
        </p:nvSpPr>
        <p:spPr>
          <a:xfrm>
            <a:off x="3950208" y="4709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Qualtrics, CRM, Medallia</a:t>
            </a:r>
            <a:endParaRPr lang="en-US" sz="850"/>
          </a:p>
        </p:txBody>
      </p:sp>
      <p:sp>
        <p:nvSpPr>
          <p:cNvPr id="107" name="Text 105"/>
          <p:cNvSpPr/>
          <p:nvPr/>
        </p:nvSpPr>
        <p:spPr>
          <a:xfrm>
            <a:off x="6035040" y="4709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Notify-only</a:t>
            </a:r>
            <a:endParaRPr lang="en-US" sz="900"/>
          </a:p>
        </p:txBody>
      </p:sp>
      <p:sp>
        <p:nvSpPr>
          <p:cNvPr id="108" name="Text 106"/>
          <p:cNvSpPr/>
          <p:nvPr/>
        </p:nvSpPr>
        <p:spPr>
          <a:xfrm>
            <a:off x="7296912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850"/>
          </a:p>
        </p:txBody>
      </p:sp>
      <p:sp>
        <p:nvSpPr>
          <p:cNvPr id="109" name="Shape 10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APPENDIX A4 — AGENT TEMPLATE CATALOGUE</a:t>
            </a:r>
            <a:endParaRPr lang="en-US" sz="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Security &amp; Compliance Reference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Framework mappings, data residency, and incident response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20624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26187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Natoma Gateway — Security Architecture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38912" y="169164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6367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policy engine (AWS open-source) — auditable, attribute-based authorization at tool layer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38912" y="196596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91109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Identity-aware: user, group, device, and AI client context enforced per connection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38912" y="224028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1854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credentials or BYO credentials — both supported; no credential sprawl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38912" y="2514600"/>
            <a:ext cx="73152" cy="7315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45973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integration · SIEM · EDR · MDM — full security stack compatibility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700016" y="117043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0016" y="1170432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26187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 Mappings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882896" y="169164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10912" y="16367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Type II (Natoma certified) — access controls, availability, confidentiality, processing integrity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882896" y="196596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191109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data subject rights, purpose limitation, consent tracking, retention policies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882896" y="224028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21854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and US Data Privacy: compliant by design through Natoma gateway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882896" y="25146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10912" y="245973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and on-prem deployment available for HIPAA and sovereign cloud requirements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256032" y="299923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6032" y="2999232"/>
            <a:ext cx="4206240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0624" y="309067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Data Architecture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438912" y="352044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34655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 and LLM calls on client's AWS VPC — Parkar has no access to client data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38912" y="379476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373989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 traverse Natoma's SOC2-certified managed gateway (default model)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38912" y="406908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40142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peering or on-prem Natoma available for regulated industries — no data leaves perimeter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38912" y="4343400"/>
            <a:ext cx="73152" cy="73152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428853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(AWS KMS) and in transit (TLS 1.3) enforced across all layers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700016" y="2999232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0016" y="2999232"/>
            <a:ext cx="420624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3090672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4882896" y="3520440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10912" y="34655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P1-P4 incident classification: agent anomalies, policy violations, Shadow AI events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4882896" y="3794760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10912" y="373989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circuit-breaker: agent suspended on repeated policy violations pending review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4882896" y="4069080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10912" y="401421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capability: agent reverted to last known-good version within minutes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882896" y="4343400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10912" y="428853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 template with root cause, timeline, and remediation log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00C2CB"/>
                </a:solidFill>
              </a:rPr>
              <a:t>APPENDIX A5 — SECURITY &amp; COMPLIANCE REFERENCE</a:t>
            </a:r>
            <a:endParaRPr lang="en-US" sz="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— Investment Model &amp; Commercial Terms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Three tiers, de-risked entry, outcome-aligned pricing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3584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07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38912" y="17922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38912" y="2029968"/>
            <a:ext cx="2423160" cy="27432"/>
          </a:xfrm>
          <a:prstGeom prst="rect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042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working session with data &amp; platform leads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62432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10-dimension readiness scorecard against your environment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94436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Wave 1/2/3 use case backlog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2644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scope recommendation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82296" cy="8229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in 5 business days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38912" y="4041648"/>
            <a:ext cx="2423160" cy="512064"/>
          </a:xfrm>
          <a:prstGeom prst="rect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059936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standalone — no commitment to continue required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3182112" y="1115568"/>
            <a:ext cx="2743200" cy="3584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82112" y="1115568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46704" y="1207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3346704" y="1554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Month 3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346704" y="17922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~$25K/month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3346704" y="2029968"/>
            <a:ext cx="2423160" cy="27432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46704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750"/>
          </a:p>
        </p:txBody>
      </p:sp>
      <p:sp>
        <p:nvSpPr>
          <p:cNvPr id="32" name="Shape 30"/>
          <p:cNvSpPr/>
          <p:nvPr/>
        </p:nvSpPr>
        <p:spPr>
          <a:xfrm>
            <a:off x="3364992" y="235915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02152" y="23042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onboarding + Wave 1 agent build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3364992" y="267919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02152" y="262432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sprint delivery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364992" y="299923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02152" y="294436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Parkar invests Months 1–2 at no cost to client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3364992" y="331927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02152" y="32644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6-role agentic AI team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3364992" y="3639312"/>
            <a:ext cx="82296" cy="822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02152" y="35844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Hub, data connectors, governance configured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3346704" y="4041648"/>
            <a:ext cx="2423160" cy="512064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83280" y="4059936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commitment from Month 3 · 30-day notice after Month 6</a:t>
            </a:r>
            <a:endParaRPr lang="en-US" sz="850"/>
          </a:p>
        </p:txBody>
      </p:sp>
      <p:sp>
        <p:nvSpPr>
          <p:cNvPr id="44" name="Shape 42"/>
          <p:cNvSpPr/>
          <p:nvPr/>
        </p:nvSpPr>
        <p:spPr>
          <a:xfrm>
            <a:off x="6089904" y="1115568"/>
            <a:ext cx="2743200" cy="3584448"/>
          </a:xfrm>
          <a:prstGeom prst="rect">
            <a:avLst/>
          </a:prstGeom>
          <a:solidFill>
            <a:srgbClr val="0D204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89904" y="1115568"/>
            <a:ext cx="2743200" cy="54864"/>
          </a:xfrm>
          <a:prstGeom prst="rect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54496" y="12070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/>
          </a:p>
        </p:txBody>
      </p:sp>
      <p:sp>
        <p:nvSpPr>
          <p:cNvPr id="47" name="Text 45"/>
          <p:cNvSpPr/>
          <p:nvPr/>
        </p:nvSpPr>
        <p:spPr>
          <a:xfrm>
            <a:off x="6254496" y="1554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6254496" y="17922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ACV</a:t>
            </a:r>
            <a:endParaRPr lang="en-US" sz="1000"/>
          </a:p>
        </p:txBody>
      </p:sp>
      <p:sp>
        <p:nvSpPr>
          <p:cNvPr id="49" name="Shape 47"/>
          <p:cNvSpPr/>
          <p:nvPr/>
        </p:nvSpPr>
        <p:spPr>
          <a:xfrm>
            <a:off x="6254496" y="2029968"/>
            <a:ext cx="2423160" cy="27432"/>
          </a:xfrm>
          <a:prstGeom prst="rect">
            <a:avLst/>
          </a:prstGeom>
          <a:solidFill>
            <a:srgbClr val="E05C97">
              <a:alpha val="30000"/>
            </a:srgbClr>
          </a:solidFill>
          <a:ln w="12700">
            <a:solidFill>
              <a:srgbClr val="E05C9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54496" y="21031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750"/>
          </a:p>
        </p:txBody>
      </p:sp>
      <p:sp>
        <p:nvSpPr>
          <p:cNvPr id="51" name="Shape 49"/>
          <p:cNvSpPr/>
          <p:nvPr/>
        </p:nvSpPr>
        <p:spPr>
          <a:xfrm>
            <a:off x="6272784" y="235915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9944" y="230428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access + ongoing connector library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6272784" y="267919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09944" y="262432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2/3 agent builds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6272784" y="299923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9944" y="294436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support and enablement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6272784" y="331927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09944" y="32644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governance and performance reviews</a:t>
            </a:r>
            <a:endParaRPr lang="en-US" sz="950"/>
          </a:p>
        </p:txBody>
      </p:sp>
      <p:sp>
        <p:nvSpPr>
          <p:cNvPr id="59" name="Shape 57"/>
          <p:cNvSpPr/>
          <p:nvPr/>
        </p:nvSpPr>
        <p:spPr>
          <a:xfrm>
            <a:off x="6272784" y="3639312"/>
            <a:ext cx="82296" cy="82296"/>
          </a:xfrm>
          <a:prstGeom prst="ellipse">
            <a:avLst/>
          </a:prstGeom>
          <a:solidFill>
            <a:srgbClr val="E05C97"/>
          </a:solidFill>
          <a:ln w="12700">
            <a:solidFill>
              <a:srgbClr val="E05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09944" y="35844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grows as agent portfolio grows</a:t>
            </a:r>
            <a:endParaRPr lang="en-US" sz="950"/>
          </a:p>
        </p:txBody>
      </p:sp>
      <p:sp>
        <p:nvSpPr>
          <p:cNvPr id="61" name="Shape 59"/>
          <p:cNvSpPr/>
          <p:nvPr/>
        </p:nvSpPr>
        <p:spPr>
          <a:xfrm>
            <a:off x="6254496" y="4041648"/>
            <a:ext cx="2423160" cy="512064"/>
          </a:xfrm>
          <a:prstGeom prst="rect">
            <a:avLst/>
          </a:prstGeom>
          <a:solidFill>
            <a:srgbClr val="E05C97">
              <a:alpha val="10000"/>
            </a:srgbClr>
          </a:solidFill>
          <a:ln w="12700">
            <a:solidFill>
              <a:srgbClr val="E05C9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91072" y="4059936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E05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rate — no per-resource billing · Monthly invoicing in arrears</a:t>
            </a:r>
            <a:endParaRPr lang="en-US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24</Slides>
  <Notes>24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AIONIQ Platform — CTO Overview</dc:title>
  <dc:subject>PptxGenJS Presentation</dc:subject>
  <dc:creator>PptxGenJS</dc:creator>
  <cp:revision>1</cp:revision>
  <dcterms:created xsi:type="dcterms:W3CDTF">2026-04-01T09:24:07Z</dcterms:created>
  <dcterms:modified xsi:type="dcterms:W3CDTF">2026-04-02T06:43:03Z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4186ff-6105-49c9-a34e-39b846c71822_Enabled">
    <vt:lpwstr>true</vt:lpwstr>
  </property>
  <property fmtid="{D5CDD505-2E9C-101B-9397-08002B2CF9AE}" pid="3" name="MSIP_Label_6e4186ff-6105-49c9-a34e-39b846c71822_SetDate">
    <vt:lpwstr>2026-04-01T09:50:34Z</vt:lpwstr>
  </property>
  <property fmtid="{D5CDD505-2E9C-101B-9397-08002B2CF9AE}" pid="4" name="MSIP_Label_6e4186ff-6105-49c9-a34e-39b846c71822_Method">
    <vt:lpwstr>Standard</vt:lpwstr>
  </property>
  <property fmtid="{D5CDD505-2E9C-101B-9397-08002B2CF9AE}" pid="5" name="MSIP_Label_6e4186ff-6105-49c9-a34e-39b846c71822_Name">
    <vt:lpwstr>Internal</vt:lpwstr>
  </property>
  <property fmtid="{D5CDD505-2E9C-101B-9397-08002B2CF9AE}" pid="6" name="MSIP_Label_6e4186ff-6105-49c9-a34e-39b846c71822_SiteId">
    <vt:lpwstr>5501edf8-56e7-47c5-8cde-a3f87fe1ec0d</vt:lpwstr>
  </property>
  <property fmtid="{D5CDD505-2E9C-101B-9397-08002B2CF9AE}" pid="7" name="MSIP_Label_6e4186ff-6105-49c9-a34e-39b846c71822_ActionId">
    <vt:lpwstr>91b5727d-cecd-4604-a40b-c5be52266f30</vt:lpwstr>
  </property>
  <property fmtid="{D5CDD505-2E9C-101B-9397-08002B2CF9AE}" pid="8" name="MSIP_Label_6e4186ff-6105-49c9-a34e-39b846c71822_ContentBits">
    <vt:lpwstr>0</vt:lpwstr>
  </property>
  <property fmtid="{D5CDD505-2E9C-101B-9397-08002B2CF9AE}" pid="9" name="MSIP_Label_6e4186ff-6105-49c9-a34e-39b846c71822_Tag">
    <vt:lpwstr>50, 3, 0, 1</vt:lpwstr>
  </property>
</Properties>
</file>